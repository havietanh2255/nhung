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76" r:id="rId4"/>
    <p:sldId id="278" r:id="rId5"/>
    <p:sldId id="279" r:id="rId6"/>
    <p:sldId id="280" r:id="rId7"/>
    <p:sldId id="282" r:id="rId8"/>
    <p:sldId id="283" r:id="rId9"/>
    <p:sldId id="281" r:id="rId10"/>
    <p:sldId id="284" r:id="rId11"/>
    <p:sldId id="287" r:id="rId12"/>
    <p:sldId id="285" r:id="rId13"/>
    <p:sldId id="286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301" r:id="rId25"/>
    <p:sldId id="302" r:id="rId26"/>
    <p:sldId id="298" r:id="rId27"/>
    <p:sldId id="277" r:id="rId28"/>
    <p:sldId id="272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2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1502" y="72"/>
      </p:cViewPr>
      <p:guideLst>
        <p:guide orient="horz" pos="2143"/>
        <p:guide pos="28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image" Target="../media/image3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595438" cy="59674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l="8024" t="17523" b="6465"/>
          <a:stretch>
            <a:fillRect/>
          </a:stretch>
        </p:blipFill>
        <p:spPr>
          <a:xfrm>
            <a:off x="7985760" y="0"/>
            <a:ext cx="1158716" cy="5967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2638901" y="151606"/>
            <a:ext cx="3866198" cy="673418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0" algn="ctr" fontAlgn="auto">
              <a:lnSpc>
                <a:spcPct val="100000"/>
              </a:lnSpc>
              <a:buNone/>
            </a:pPr>
            <a:r>
              <a:rPr lang="vi-VN" sz="135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ĐẠI HỌC QUỐC GIA HÀ NỘI</a:t>
            </a:r>
            <a:endParaRPr lang="vi-VN" sz="135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indent="0" algn="ctr" fontAlgn="auto">
              <a:lnSpc>
                <a:spcPct val="100000"/>
              </a:lnSpc>
            </a:pPr>
            <a:r>
              <a:rPr lang="vi-VN" sz="135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TRƯỜNG ĐẠI HỌC KHOA HỌC TỰ NHIÊN 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909874" y="1604689"/>
            <a:ext cx="7758589" cy="14097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25157" y="938961"/>
            <a:ext cx="8328025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sz="3600" b="1" dirty="0">
                <a:solidFill>
                  <a:srgbClr val="0B7EC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sz="2800" b="1" dirty="0">
                <a:solidFill>
                  <a:srgbClr val="0B7EC7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BÁO CÁO MÔN</a:t>
            </a:r>
            <a:r>
              <a:rPr lang="en-US" sz="2800" b="1" dirty="0">
                <a:solidFill>
                  <a:srgbClr val="0B7EC7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HỌC MÁY</a:t>
            </a:r>
            <a:endParaRPr lang="en-US" sz="2800" b="1" dirty="0">
              <a:solidFill>
                <a:srgbClr val="0B7EC7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92355" y="2064030"/>
            <a:ext cx="76092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EMSEMBLE LEARNING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2210958" y="3123235"/>
            <a:ext cx="4838700" cy="1780131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vi-VN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Nhóm sinh </a:t>
            </a:r>
            <a:r>
              <a:rPr lang="en-US" altLang="vi-VN" sz="14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viên</a:t>
            </a:r>
            <a:r>
              <a:rPr lang="en-US" altLang="vi-VN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 Hà Việt Anh</a:t>
            </a:r>
          </a:p>
          <a:p>
            <a:pPr lvl="3">
              <a:lnSpc>
                <a:spcPct val="150000"/>
              </a:lnSpc>
            </a:pPr>
            <a:r>
              <a:rPr lang="en-US" altLang="vi-V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Vũ </a:t>
            </a:r>
            <a:r>
              <a:rPr lang="en-US" altLang="vi-VN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Đình</a:t>
            </a:r>
            <a:r>
              <a:rPr lang="en-US" altLang="vi-V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1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Diệm</a:t>
            </a:r>
            <a:endParaRPr lang="en-US" altLang="vi-VN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3">
              <a:lnSpc>
                <a:spcPct val="150000"/>
              </a:lnSpc>
            </a:pPr>
            <a:r>
              <a:rPr lang="en-US" altLang="vi-V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Nguyễn Thành Đạt</a:t>
            </a:r>
          </a:p>
          <a:p>
            <a:pPr lvl="3">
              <a:lnSpc>
                <a:spcPct val="150000"/>
              </a:lnSpc>
            </a:pPr>
            <a:r>
              <a:rPr lang="en-US" altLang="vi-V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Lê Văn Đạt</a:t>
            </a:r>
          </a:p>
          <a:p>
            <a:pPr lvl="3">
              <a:lnSpc>
                <a:spcPct val="150000"/>
              </a:lnSpc>
            </a:pPr>
            <a:r>
              <a:rPr lang="en-US" altLang="vi-V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Nguyễn Thị Hà</a:t>
            </a:r>
          </a:p>
          <a:p>
            <a:pPr lvl="3">
              <a:lnSpc>
                <a:spcPct val="150000"/>
              </a:lnSpc>
            </a:pPr>
            <a:r>
              <a:rPr lang="en-US" altLang="vi-V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Phan Thành Đạt	</a:t>
            </a:r>
          </a:p>
          <a:p>
            <a:pPr lvl="3">
              <a:lnSpc>
                <a:spcPct val="150000"/>
              </a:lnSpc>
            </a:pPr>
            <a:r>
              <a:rPr lang="en-US" altLang="vi-V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Nguyễn Văn Việt Anh</a:t>
            </a:r>
          </a:p>
          <a:p>
            <a:pPr lvl="3">
              <a:lnSpc>
                <a:spcPct val="150000"/>
              </a:lnSpc>
            </a:pPr>
            <a:endParaRPr lang="en-US" altLang="vi-VN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lvl="3">
              <a:lnSpc>
                <a:spcPct val="150000"/>
              </a:lnSpc>
            </a:pPr>
            <a:endParaRPr lang="en-US" altLang="vi-VN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2210957" y="5415266"/>
            <a:ext cx="4572000" cy="3806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vi-VN" sz="14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Giảng</a:t>
            </a:r>
            <a:r>
              <a:rPr lang="en-US" altLang="vi-VN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</a:t>
            </a:r>
            <a:r>
              <a:rPr lang="en-US" altLang="vi-VN" sz="14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viên</a:t>
            </a:r>
            <a:r>
              <a:rPr lang="en-US" altLang="vi-VN" sz="1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TS. Nguyễn Tiến Cường</a:t>
            </a:r>
            <a:endParaRPr lang="en-US" altLang="vi-VN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4" name="Text Box 13"/>
          <p:cNvSpPr txBox="1"/>
          <p:nvPr/>
        </p:nvSpPr>
        <p:spPr>
          <a:xfrm>
            <a:off x="2143760" y="5761355"/>
            <a:ext cx="4572000" cy="3755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40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Năm</a:t>
            </a:r>
            <a:r>
              <a:rPr lang="en-US" sz="1400" i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2026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9D3A43-6ECC-57CA-0A48-6B7F5928343A}"/>
              </a:ext>
            </a:extLst>
          </p:cNvPr>
          <p:cNvSpPr txBox="1"/>
          <p:nvPr/>
        </p:nvSpPr>
        <p:spPr>
          <a:xfrm>
            <a:off x="930780" y="2609016"/>
            <a:ext cx="6997959" cy="375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Bagging, Random Forest, Boosting &amp; Gradient Booting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358775" y="8278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3050" y="24940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vi-VN" sz="3200" b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NỘI DUNG</a:t>
            </a:r>
            <a:endParaRPr lang="en-US" sz="3200" b="1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/>
          <p:cNvSpPr/>
          <p:nvPr>
            <p:custDataLst>
              <p:tags r:id="rId1"/>
            </p:custDataLst>
          </p:nvPr>
        </p:nvSpPr>
        <p:spPr>
          <a:xfrm>
            <a:off x="829945" y="1382395"/>
            <a:ext cx="7265670" cy="594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Rectangle: Rounded Corners 12"/>
          <p:cNvSpPr/>
          <p:nvPr>
            <p:custDataLst>
              <p:tags r:id="rId2"/>
            </p:custDataLst>
          </p:nvPr>
        </p:nvSpPr>
        <p:spPr>
          <a:xfrm>
            <a:off x="829945" y="2237740"/>
            <a:ext cx="7265670" cy="594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Box 4"/>
          <p:cNvSpPr txBox="1"/>
          <p:nvPr>
            <p:custDataLst>
              <p:tags r:id="rId3"/>
            </p:custDataLst>
          </p:nvPr>
        </p:nvSpPr>
        <p:spPr>
          <a:xfrm>
            <a:off x="1040765" y="2364740"/>
            <a:ext cx="7054850" cy="3841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altLang="vi-V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CHƯƠNG II: CÁC PHƯƠNG PHÁP</a:t>
            </a:r>
          </a:p>
        </p:txBody>
      </p:sp>
      <p:cxnSp>
        <p:nvCxnSpPr>
          <p:cNvPr id="19" name="Straight Connector 18"/>
          <p:cNvCxnSpPr/>
          <p:nvPr>
            <p:custDataLst>
              <p:tags r:id="rId4"/>
            </p:custDataLst>
          </p:nvPr>
        </p:nvCxnSpPr>
        <p:spPr>
          <a:xfrm flipV="1">
            <a:off x="446605" y="1614079"/>
            <a:ext cx="383540" cy="127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>
            <p:custDataLst>
              <p:tags r:id="rId5"/>
            </p:custDataLst>
          </p:nvPr>
        </p:nvCxnSpPr>
        <p:spPr>
          <a:xfrm>
            <a:off x="439620" y="1608364"/>
            <a:ext cx="1905" cy="50101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>
            <p:custDataLst>
              <p:tags r:id="rId6"/>
            </p:custDataLst>
          </p:nvPr>
        </p:nvCxnSpPr>
        <p:spPr>
          <a:xfrm>
            <a:off x="445970" y="2103085"/>
            <a:ext cx="8228330" cy="698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>
            <p:custDataLst>
              <p:tags r:id="rId7"/>
            </p:custDataLst>
          </p:nvPr>
        </p:nvCxnSpPr>
        <p:spPr>
          <a:xfrm>
            <a:off x="8673365" y="1678930"/>
            <a:ext cx="1270" cy="43942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>
            <a:endCxn id="12" idx="3"/>
          </p:cNvCxnSpPr>
          <p:nvPr>
            <p:custDataLst>
              <p:tags r:id="rId8"/>
            </p:custDataLst>
          </p:nvPr>
        </p:nvCxnSpPr>
        <p:spPr>
          <a:xfrm flipH="1">
            <a:off x="6887210" y="1745615"/>
            <a:ext cx="501650" cy="63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>
            <p:custDataLst>
              <p:tags r:id="rId9"/>
            </p:custDataLst>
          </p:nvPr>
        </p:nvCxnSpPr>
        <p:spPr>
          <a:xfrm>
            <a:off x="441325" y="2479180"/>
            <a:ext cx="383540" cy="127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>
            <p:custDataLst>
              <p:tags r:id="rId10"/>
            </p:custDataLst>
          </p:nvPr>
        </p:nvCxnSpPr>
        <p:spPr>
          <a:xfrm flipH="1">
            <a:off x="446405" y="2467115"/>
            <a:ext cx="2540" cy="45910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>
            <p:custDataLst>
              <p:tags r:id="rId11"/>
            </p:custDataLst>
          </p:nvPr>
        </p:nvCxnSpPr>
        <p:spPr>
          <a:xfrm>
            <a:off x="448945" y="2918656"/>
            <a:ext cx="824484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>
            <p:custDataLst>
              <p:tags r:id="rId12"/>
            </p:custDataLst>
          </p:nvPr>
        </p:nvCxnSpPr>
        <p:spPr>
          <a:xfrm>
            <a:off x="8683324" y="2479261"/>
            <a:ext cx="0" cy="43942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>
            <p:custDataLst>
              <p:tags r:id="rId13"/>
            </p:custDataLst>
          </p:nvPr>
        </p:nvCxnSpPr>
        <p:spPr>
          <a:xfrm>
            <a:off x="6908265" y="2598642"/>
            <a:ext cx="50101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>
            <p:custDataLst>
              <p:tags r:id="rId14"/>
            </p:custDataLst>
          </p:nvPr>
        </p:nvCxnSpPr>
        <p:spPr>
          <a:xfrm>
            <a:off x="8095815" y="1678849"/>
            <a:ext cx="58801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>
            <p:custDataLst>
              <p:tags r:id="rId15"/>
            </p:custDataLst>
          </p:nvPr>
        </p:nvCxnSpPr>
        <p:spPr>
          <a:xfrm>
            <a:off x="8095815" y="2486569"/>
            <a:ext cx="58801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8" name="TextBox 4"/>
          <p:cNvSpPr txBox="1"/>
          <p:nvPr>
            <p:custDataLst>
              <p:tags r:id="rId16"/>
            </p:custDataLst>
          </p:nvPr>
        </p:nvSpPr>
        <p:spPr>
          <a:xfrm>
            <a:off x="1040765" y="1499235"/>
            <a:ext cx="6672580" cy="3841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altLang="vi-V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CHƯƠNG I: </a:t>
            </a:r>
            <a:r>
              <a:rPr lang="en-US" altLang="vi-V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TỔNG QUAN ĐỀ TÀI</a:t>
            </a:r>
            <a:r>
              <a:rPr lang="en-US" altLang="vi-V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vi-VN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EMSEMBLE LEARNING</a:t>
            </a:r>
            <a:endParaRPr lang="en-US" altLang="vi-VN" sz="1600" b="1" i="0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38729CE-0A31-E54C-1B7C-55FC74680C45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96907" y="3139615"/>
            <a:ext cx="7265670" cy="594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F3BA443-524F-5062-5AA5-3E12F3FB485A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 flipV="1">
            <a:off x="419000" y="3363912"/>
            <a:ext cx="390525" cy="127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CE4A97-07CA-07B1-A4B2-5EED878CB49D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 flipH="1">
            <a:off x="424715" y="3356927"/>
            <a:ext cx="635" cy="5041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E0C266-EF0B-05D3-614A-AAF2270FFD22}"/>
              </a:ext>
            </a:extLst>
          </p:cNvPr>
          <p:cNvCxnSpPr/>
          <p:nvPr>
            <p:custDataLst>
              <p:tags r:id="rId20"/>
            </p:custDataLst>
          </p:nvPr>
        </p:nvCxnSpPr>
        <p:spPr>
          <a:xfrm>
            <a:off x="430430" y="3851648"/>
            <a:ext cx="8242935" cy="952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16645D4-85EC-E3B8-0D61-C954B918DFF1}"/>
              </a:ext>
            </a:extLst>
          </p:cNvPr>
          <p:cNvCxnSpPr/>
          <p:nvPr>
            <p:custDataLst>
              <p:tags r:id="rId21"/>
            </p:custDataLst>
          </p:nvPr>
        </p:nvCxnSpPr>
        <p:spPr>
          <a:xfrm>
            <a:off x="8659730" y="3403998"/>
            <a:ext cx="3175" cy="4495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B329A0-4B8A-82E4-FD29-A40F4B60EB58}"/>
              </a:ext>
            </a:extLst>
          </p:cNvPr>
          <p:cNvCxnSpPr/>
          <p:nvPr>
            <p:custDataLst>
              <p:tags r:id="rId22"/>
            </p:custDataLst>
          </p:nvPr>
        </p:nvCxnSpPr>
        <p:spPr>
          <a:xfrm>
            <a:off x="6866890" y="3488453"/>
            <a:ext cx="50101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240419-2CE7-2451-42D8-AA4E1C6D3D4C}"/>
              </a:ext>
            </a:extLst>
          </p:cNvPr>
          <p:cNvCxnSpPr/>
          <p:nvPr>
            <p:custDataLst>
              <p:tags r:id="rId23"/>
            </p:custDataLst>
          </p:nvPr>
        </p:nvCxnSpPr>
        <p:spPr>
          <a:xfrm>
            <a:off x="8075195" y="3411268"/>
            <a:ext cx="58801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4">
            <a:extLst>
              <a:ext uri="{FF2B5EF4-FFF2-40B4-BE49-F238E27FC236}">
                <a16:creationId xmlns:a16="http://schemas.microsoft.com/office/drawing/2014/main" id="{CEC1D7C9-9CE5-1B8D-3F28-4B1E30620C29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081423" y="3259231"/>
            <a:ext cx="7185025" cy="3841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altLang="vi-V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CHƯƠNG III: DEMO VÀ SO SÁNH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26912A-6D77-AD13-8867-A18BAC1F17B8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813746" y="3976859"/>
            <a:ext cx="7265670" cy="5943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F40C0C9-2D3C-8B94-FF9B-A061A6118205}"/>
              </a:ext>
            </a:extLst>
          </p:cNvPr>
          <p:cNvCxnSpPr/>
          <p:nvPr>
            <p:custDataLst>
              <p:tags r:id="rId26"/>
            </p:custDataLst>
          </p:nvPr>
        </p:nvCxnSpPr>
        <p:spPr>
          <a:xfrm flipV="1">
            <a:off x="423421" y="4201192"/>
            <a:ext cx="390525" cy="127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47BED03-E94E-95EE-C8EE-EA89FC6A636D}"/>
              </a:ext>
            </a:extLst>
          </p:cNvPr>
          <p:cNvCxnSpPr/>
          <p:nvPr>
            <p:custDataLst>
              <p:tags r:id="rId27"/>
            </p:custDataLst>
          </p:nvPr>
        </p:nvCxnSpPr>
        <p:spPr>
          <a:xfrm flipH="1">
            <a:off x="429136" y="4194207"/>
            <a:ext cx="635" cy="50419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F134473-4745-96B1-3DD8-9EA75CAA6293}"/>
              </a:ext>
            </a:extLst>
          </p:cNvPr>
          <p:cNvCxnSpPr/>
          <p:nvPr>
            <p:custDataLst>
              <p:tags r:id="rId28"/>
            </p:custDataLst>
          </p:nvPr>
        </p:nvCxnSpPr>
        <p:spPr>
          <a:xfrm>
            <a:off x="434851" y="4698259"/>
            <a:ext cx="8242935" cy="952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57E68DF-E020-45C4-7952-4BCE876A77DF}"/>
              </a:ext>
            </a:extLst>
          </p:cNvPr>
          <p:cNvCxnSpPr/>
          <p:nvPr>
            <p:custDataLst>
              <p:tags r:id="rId29"/>
            </p:custDataLst>
          </p:nvPr>
        </p:nvCxnSpPr>
        <p:spPr>
          <a:xfrm>
            <a:off x="8664151" y="4241278"/>
            <a:ext cx="3175" cy="44958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EFD43A-5B4B-A8C6-A558-16D7DB46FE01}"/>
              </a:ext>
            </a:extLst>
          </p:cNvPr>
          <p:cNvCxnSpPr/>
          <p:nvPr>
            <p:custDataLst>
              <p:tags r:id="rId30"/>
            </p:custDataLst>
          </p:nvPr>
        </p:nvCxnSpPr>
        <p:spPr>
          <a:xfrm>
            <a:off x="6871311" y="4325733"/>
            <a:ext cx="50101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EADFA45-7247-269E-093D-7AA1403497AE}"/>
              </a:ext>
            </a:extLst>
          </p:cNvPr>
          <p:cNvCxnSpPr/>
          <p:nvPr>
            <p:custDataLst>
              <p:tags r:id="rId31"/>
            </p:custDataLst>
          </p:nvPr>
        </p:nvCxnSpPr>
        <p:spPr>
          <a:xfrm>
            <a:off x="8079616" y="4248548"/>
            <a:ext cx="58801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4" name="TextBox 4">
            <a:extLst>
              <a:ext uri="{FF2B5EF4-FFF2-40B4-BE49-F238E27FC236}">
                <a16:creationId xmlns:a16="http://schemas.microsoft.com/office/drawing/2014/main" id="{B9C026EC-955C-A239-86D5-843D46197A12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975236" y="4056460"/>
            <a:ext cx="7185025" cy="3841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altLang="vi-V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CHƯƠNG </a:t>
            </a:r>
            <a:r>
              <a:rPr lang="en-US" altLang="vi-VN" sz="1600" b="1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iV</a:t>
            </a:r>
            <a:r>
              <a:rPr lang="en-US" altLang="vi-VN" sz="1600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TÀI LIỆU THAM KHẢO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3050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I:EMSEMBLE LEARNING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62F5B22-BF62-C088-EEDC-05AE33DBC4AB}"/>
              </a:ext>
            </a:extLst>
          </p:cNvPr>
          <p:cNvSpPr txBox="1"/>
          <p:nvPr/>
        </p:nvSpPr>
        <p:spPr>
          <a:xfrm>
            <a:off x="273050" y="803404"/>
            <a:ext cx="8432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1.1 </a:t>
            </a:r>
            <a:r>
              <a:rPr lang="en-US" b="1" dirty="0" err="1"/>
              <a:t>Emsemble</a:t>
            </a:r>
            <a:r>
              <a:rPr lang="en-US" b="1" dirty="0"/>
              <a:t> learning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gì</a:t>
            </a:r>
            <a:r>
              <a:rPr lang="en-US" b="1" dirty="0"/>
              <a:t>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70E7D1-4467-9F9D-BE46-1E8B2FB73ED0}"/>
              </a:ext>
            </a:extLst>
          </p:cNvPr>
          <p:cNvSpPr txBox="1"/>
          <p:nvPr/>
        </p:nvSpPr>
        <p:spPr>
          <a:xfrm>
            <a:off x="494522" y="1408922"/>
            <a:ext cx="7950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“</a:t>
            </a:r>
            <a:r>
              <a:rPr lang="en-US" sz="1600" i="1" dirty="0" err="1"/>
              <a:t>Kỹ</a:t>
            </a:r>
            <a:r>
              <a:rPr lang="en-US" sz="1600" i="1" dirty="0"/>
              <a:t> </a:t>
            </a:r>
            <a:r>
              <a:rPr lang="en-US" sz="1600" i="1" dirty="0" err="1"/>
              <a:t>thuật</a:t>
            </a:r>
            <a:r>
              <a:rPr lang="en-US" sz="1600" i="1" dirty="0"/>
              <a:t> </a:t>
            </a:r>
            <a:r>
              <a:rPr lang="en-US" sz="1600" i="1" dirty="0" err="1"/>
              <a:t>kết</a:t>
            </a:r>
            <a:r>
              <a:rPr lang="en-US" sz="1600" i="1" dirty="0"/>
              <a:t> </a:t>
            </a:r>
            <a:r>
              <a:rPr lang="en-US" sz="1600" i="1" dirty="0" err="1"/>
              <a:t>hợp</a:t>
            </a:r>
            <a:r>
              <a:rPr lang="en-US" sz="1600" i="1" dirty="0"/>
              <a:t> </a:t>
            </a:r>
            <a:r>
              <a:rPr lang="en-US" sz="1600" i="1" dirty="0" err="1"/>
              <a:t>nhiều</a:t>
            </a:r>
            <a:r>
              <a:rPr lang="en-US" sz="1600" i="1" dirty="0"/>
              <a:t> </a:t>
            </a:r>
            <a:r>
              <a:rPr lang="en-US" sz="1600" i="1" dirty="0" err="1"/>
              <a:t>mô</a:t>
            </a:r>
            <a:r>
              <a:rPr lang="en-US" sz="1600" i="1" dirty="0"/>
              <a:t> </a:t>
            </a:r>
            <a:r>
              <a:rPr lang="en-US" sz="1600" i="1" dirty="0" err="1"/>
              <a:t>hình</a:t>
            </a:r>
            <a:r>
              <a:rPr lang="en-US" sz="1600" i="1" dirty="0"/>
              <a:t> </a:t>
            </a:r>
            <a:r>
              <a:rPr lang="en-US" sz="1600" i="1" dirty="0" err="1"/>
              <a:t>yếu</a:t>
            </a:r>
            <a:r>
              <a:rPr lang="en-US" sz="1600" i="1" dirty="0"/>
              <a:t> ( Weak Learners) </a:t>
            </a:r>
            <a:r>
              <a:rPr lang="en-US" sz="1600" i="1" dirty="0" err="1"/>
              <a:t>để</a:t>
            </a:r>
            <a:r>
              <a:rPr lang="en-US" sz="1600" i="1" dirty="0"/>
              <a:t> </a:t>
            </a:r>
            <a:r>
              <a:rPr lang="en-US" sz="1600" i="1" dirty="0" err="1"/>
              <a:t>tạo</a:t>
            </a:r>
            <a:r>
              <a:rPr lang="en-US" sz="1600" i="1" dirty="0"/>
              <a:t> </a:t>
            </a:r>
            <a:r>
              <a:rPr lang="en-US" sz="1600" i="1" dirty="0" err="1"/>
              <a:t>ra</a:t>
            </a:r>
            <a:r>
              <a:rPr lang="en-US" sz="1600" i="1" dirty="0"/>
              <a:t> </a:t>
            </a:r>
            <a:r>
              <a:rPr lang="en-US" sz="1600" i="1" dirty="0" err="1"/>
              <a:t>một</a:t>
            </a:r>
            <a:r>
              <a:rPr lang="en-US" sz="1600" i="1" dirty="0"/>
              <a:t> </a:t>
            </a:r>
            <a:r>
              <a:rPr lang="en-US" sz="1600" i="1" dirty="0" err="1"/>
              <a:t>mô</a:t>
            </a:r>
            <a:r>
              <a:rPr lang="en-US" sz="1600" i="1" dirty="0"/>
              <a:t> </a:t>
            </a:r>
            <a:r>
              <a:rPr lang="en-US" sz="1600" i="1" dirty="0" err="1"/>
              <a:t>hình</a:t>
            </a:r>
            <a:r>
              <a:rPr lang="en-US" sz="1600" i="1" dirty="0"/>
              <a:t> </a:t>
            </a:r>
            <a:r>
              <a:rPr lang="en-US" sz="1600" i="1" dirty="0" err="1"/>
              <a:t>mạnh</a:t>
            </a:r>
            <a:r>
              <a:rPr lang="en-US" sz="1600" i="1" dirty="0"/>
              <a:t> </a:t>
            </a:r>
            <a:r>
              <a:rPr lang="en-US" sz="1600" i="1" dirty="0" err="1"/>
              <a:t>hơn</a:t>
            </a:r>
            <a:r>
              <a:rPr lang="en-US" sz="1600" i="1" dirty="0"/>
              <a:t>- </a:t>
            </a:r>
            <a:r>
              <a:rPr lang="en-US" sz="1600" i="1" dirty="0" err="1"/>
              <a:t>theo</a:t>
            </a:r>
            <a:r>
              <a:rPr lang="en-US" sz="1600" i="1" dirty="0"/>
              <a:t> </a:t>
            </a:r>
            <a:r>
              <a:rPr lang="en-US" sz="1600" i="1" dirty="0" err="1"/>
              <a:t>nguyên</a:t>
            </a:r>
            <a:r>
              <a:rPr lang="en-US" sz="1600" i="1" dirty="0"/>
              <a:t> </a:t>
            </a:r>
            <a:r>
              <a:rPr lang="en-US" sz="1600" i="1" dirty="0" err="1"/>
              <a:t>lý</a:t>
            </a:r>
            <a:r>
              <a:rPr lang="en-US" sz="1600" i="1" dirty="0"/>
              <a:t> </a:t>
            </a:r>
            <a:r>
              <a:rPr lang="en-US" sz="1600" i="1" dirty="0" err="1"/>
              <a:t>đoàn</a:t>
            </a:r>
            <a:r>
              <a:rPr lang="en-US" sz="1600" i="1" dirty="0"/>
              <a:t> </a:t>
            </a:r>
            <a:r>
              <a:rPr lang="en-US" sz="1600" i="1" dirty="0" err="1"/>
              <a:t>kết</a:t>
            </a:r>
            <a:r>
              <a:rPr lang="en-US" sz="1600" i="1" dirty="0"/>
              <a:t> </a:t>
            </a:r>
            <a:r>
              <a:rPr lang="en-US" sz="1600" i="1" dirty="0" err="1"/>
              <a:t>tạo</a:t>
            </a:r>
            <a:r>
              <a:rPr lang="en-US" sz="1600" i="1" dirty="0"/>
              <a:t> </a:t>
            </a:r>
            <a:r>
              <a:rPr lang="en-US" sz="1600" i="1" dirty="0" err="1"/>
              <a:t>sức</a:t>
            </a:r>
            <a:r>
              <a:rPr lang="en-US" sz="1600" i="1" dirty="0"/>
              <a:t> </a:t>
            </a:r>
            <a:r>
              <a:rPr lang="en-US" sz="1600" i="1" dirty="0" err="1"/>
              <a:t>mạnh</a:t>
            </a:r>
            <a:r>
              <a:rPr lang="en-US" sz="1600" i="1" dirty="0"/>
              <a:t>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349637-484A-C025-A166-480B64E71504}"/>
              </a:ext>
            </a:extLst>
          </p:cNvPr>
          <p:cNvSpPr/>
          <p:nvPr/>
        </p:nvSpPr>
        <p:spPr>
          <a:xfrm>
            <a:off x="597158" y="2457004"/>
            <a:ext cx="2267339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1. </a:t>
            </a:r>
            <a:r>
              <a:rPr lang="en-US" dirty="0" err="1"/>
              <a:t>Giảm</a:t>
            </a:r>
            <a:r>
              <a:rPr lang="en-US" dirty="0"/>
              <a:t> Bias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4E63E4-5F0A-28CD-B233-BA45511E3CBF}"/>
              </a:ext>
            </a:extLst>
          </p:cNvPr>
          <p:cNvSpPr/>
          <p:nvPr/>
        </p:nvSpPr>
        <p:spPr>
          <a:xfrm>
            <a:off x="3237325" y="2457004"/>
            <a:ext cx="2090057" cy="584775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2. </a:t>
            </a:r>
            <a:r>
              <a:rPr lang="en-US" dirty="0" err="1"/>
              <a:t>Giảm</a:t>
            </a:r>
            <a:r>
              <a:rPr lang="en-US" dirty="0"/>
              <a:t> Variance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9B1B43-9DD3-3EB8-1AA2-3120F79BE4E0}"/>
              </a:ext>
            </a:extLst>
          </p:cNvPr>
          <p:cNvSpPr/>
          <p:nvPr/>
        </p:nvSpPr>
        <p:spPr>
          <a:xfrm>
            <a:off x="5700210" y="2422735"/>
            <a:ext cx="2267338" cy="58477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3.Đa </a:t>
            </a:r>
            <a:r>
              <a:rPr lang="en-US" dirty="0" err="1"/>
              <a:t>dạng</a:t>
            </a:r>
            <a:r>
              <a:rPr lang="en-US" dirty="0"/>
              <a:t> </a:t>
            </a:r>
            <a:r>
              <a:rPr lang="en-US" dirty="0" err="1"/>
              <a:t>hoá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72FA07-5D10-F73A-6C14-406031F3D88E}"/>
              </a:ext>
            </a:extLst>
          </p:cNvPr>
          <p:cNvSpPr txBox="1"/>
          <p:nvPr/>
        </p:nvSpPr>
        <p:spPr>
          <a:xfrm>
            <a:off x="597158" y="3094377"/>
            <a:ext cx="22673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Bias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5EB70F7-87B0-A34D-43D9-6A203E881504}"/>
              </a:ext>
            </a:extLst>
          </p:cNvPr>
          <p:cNvCxnSpPr/>
          <p:nvPr/>
        </p:nvCxnSpPr>
        <p:spPr>
          <a:xfrm>
            <a:off x="1175657" y="3265714"/>
            <a:ext cx="0" cy="2985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2111C5F-A8FF-5F14-0DD2-EC49C562C21B}"/>
              </a:ext>
            </a:extLst>
          </p:cNvPr>
          <p:cNvSpPr txBox="1"/>
          <p:nvPr/>
        </p:nvSpPr>
        <p:spPr>
          <a:xfrm>
            <a:off x="3237325" y="3094377"/>
            <a:ext cx="2090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Var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1CFF4FE-F909-538F-5FEF-ED41CFEA6A19}"/>
              </a:ext>
            </a:extLst>
          </p:cNvPr>
          <p:cNvCxnSpPr/>
          <p:nvPr/>
        </p:nvCxnSpPr>
        <p:spPr>
          <a:xfrm>
            <a:off x="3714815" y="3265714"/>
            <a:ext cx="0" cy="2985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FE87CE-3ED0-893A-B4AD-38A0814E340E}"/>
                  </a:ext>
                </a:extLst>
              </p:cNvPr>
              <p:cNvSpPr txBox="1"/>
              <p:nvPr/>
            </p:nvSpPr>
            <p:spPr>
              <a:xfrm>
                <a:off x="5751131" y="3125154"/>
                <a:ext cx="216549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800"/>
                        <m:t>⊕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AFE87CE-3ED0-893A-B4AD-38A0814E3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131" y="3125154"/>
                <a:ext cx="2165496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345E0396-803A-702D-6D4D-55E90F1F24EB}"/>
              </a:ext>
            </a:extLst>
          </p:cNvPr>
          <p:cNvSpPr txBox="1"/>
          <p:nvPr/>
        </p:nvSpPr>
        <p:spPr>
          <a:xfrm>
            <a:off x="597158" y="3679152"/>
            <a:ext cx="2332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Thấp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đáng</a:t>
            </a:r>
            <a:r>
              <a:rPr lang="en-US" dirty="0"/>
              <a:t> </a:t>
            </a:r>
            <a:r>
              <a:rPr lang="en-US" dirty="0" err="1"/>
              <a:t>kể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từng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lẻ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629BBC-D831-294D-7DB9-8253BF0F9C4D}"/>
              </a:ext>
            </a:extLst>
          </p:cNvPr>
          <p:cNvSpPr txBox="1"/>
          <p:nvPr/>
        </p:nvSpPr>
        <p:spPr>
          <a:xfrm>
            <a:off x="3186404" y="3731750"/>
            <a:ext cx="2513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Trung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hoá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-&gt;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trơn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577645-FFA1-BA49-5C67-EE0FA5272ACF}"/>
              </a:ext>
            </a:extLst>
          </p:cNvPr>
          <p:cNvSpPr txBox="1"/>
          <p:nvPr/>
        </p:nvSpPr>
        <p:spPr>
          <a:xfrm>
            <a:off x="5700210" y="3731750"/>
            <a:ext cx="2513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Lỗi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120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B3C68-28C3-9FA7-73C5-3821E044C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CC50F21-0129-C227-1FD2-CAEE39231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E778259-7D2D-E1F7-E14C-F8A988E66DC4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43DE38-7A8E-98AC-CFD8-D24499DC903F}"/>
              </a:ext>
            </a:extLst>
          </p:cNvPr>
          <p:cNvSpPr txBox="1"/>
          <p:nvPr/>
        </p:nvSpPr>
        <p:spPr>
          <a:xfrm>
            <a:off x="273050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I:EMSEMBLE LEARNING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531547-70E4-68DA-75D3-9A62DC2047AD}"/>
              </a:ext>
            </a:extLst>
          </p:cNvPr>
          <p:cNvSpPr txBox="1"/>
          <p:nvPr/>
        </p:nvSpPr>
        <p:spPr>
          <a:xfrm>
            <a:off x="273050" y="803404"/>
            <a:ext cx="8432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1.2 Hai </a:t>
            </a:r>
            <a:r>
              <a:rPr lang="en-US" b="1" dirty="0" err="1"/>
              <a:t>chiến</a:t>
            </a:r>
            <a:r>
              <a:rPr lang="en-US" b="1" dirty="0"/>
              <a:t> </a:t>
            </a:r>
            <a:r>
              <a:rPr lang="en-US" b="1" dirty="0" err="1"/>
              <a:t>lược</a:t>
            </a:r>
            <a:r>
              <a:rPr lang="en-US" b="1" dirty="0"/>
              <a:t> </a:t>
            </a:r>
            <a:r>
              <a:rPr lang="en-US" b="1" dirty="0" err="1"/>
              <a:t>chính</a:t>
            </a:r>
            <a:endParaRPr lang="en-US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4F31858-C762-6928-E26E-11631958B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6219" y="1360629"/>
            <a:ext cx="5041058" cy="4627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C5E764-167C-CA73-8794-B98927AA1236}"/>
              </a:ext>
            </a:extLst>
          </p:cNvPr>
          <p:cNvSpPr txBox="1"/>
          <p:nvPr/>
        </p:nvSpPr>
        <p:spPr>
          <a:xfrm>
            <a:off x="18660" y="1788645"/>
            <a:ext cx="37975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?Làm </a:t>
            </a:r>
            <a:r>
              <a:rPr lang="en-US" sz="1600" dirty="0" err="1"/>
              <a:t>sao</a:t>
            </a:r>
            <a:r>
              <a:rPr lang="en-US" sz="1600" dirty="0"/>
              <a:t>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mô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</a:t>
            </a:r>
            <a:r>
              <a:rPr lang="en-US" sz="1600" dirty="0" err="1"/>
              <a:t>tốt</a:t>
            </a:r>
            <a:r>
              <a:rPr lang="en-US" sz="1600" dirty="0"/>
              <a:t> </a:t>
            </a:r>
            <a:r>
              <a:rPr lang="en-US" sz="1600" dirty="0" err="1"/>
              <a:t>trở</a:t>
            </a:r>
            <a:r>
              <a:rPr lang="en-US" sz="1600" dirty="0"/>
              <a:t> </a:t>
            </a:r>
            <a:r>
              <a:rPr lang="en-US" sz="1600" dirty="0" err="1"/>
              <a:t>nên</a:t>
            </a:r>
            <a:r>
              <a:rPr lang="en-US" sz="1600" dirty="0"/>
              <a:t> </a:t>
            </a:r>
            <a:r>
              <a:rPr lang="en-US" sz="1600" dirty="0" err="1"/>
              <a:t>ổn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hơn</a:t>
            </a:r>
            <a:r>
              <a:rPr lang="en-US" sz="1600" dirty="0"/>
              <a:t>?</a:t>
            </a:r>
          </a:p>
          <a:p>
            <a:pPr marL="342900" indent="-342900">
              <a:buAutoNum type="arabicPeriod"/>
            </a:pPr>
            <a:r>
              <a:rPr lang="en-US" sz="1600" dirty="0" err="1"/>
              <a:t>Lấy</a:t>
            </a:r>
            <a:r>
              <a:rPr lang="en-US" sz="1600" dirty="0"/>
              <a:t> </a:t>
            </a:r>
            <a:r>
              <a:rPr lang="en-US" sz="1600" dirty="0" err="1"/>
              <a:t>mẫu</a:t>
            </a:r>
            <a:r>
              <a:rPr lang="en-US" sz="1600" dirty="0"/>
              <a:t> bootstrap (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hoàn</a:t>
            </a:r>
            <a:r>
              <a:rPr lang="en-US" sz="1600" dirty="0"/>
              <a:t> </a:t>
            </a:r>
            <a:r>
              <a:rPr lang="en-US" sz="1600" dirty="0" err="1"/>
              <a:t>lại</a:t>
            </a:r>
            <a:r>
              <a:rPr lang="en-US" sz="1600" dirty="0"/>
              <a:t>)</a:t>
            </a:r>
          </a:p>
          <a:p>
            <a:pPr marL="342900" indent="-342900">
              <a:buAutoNum type="arabicPeriod"/>
            </a:pPr>
            <a:r>
              <a:rPr lang="en-US" sz="1600" dirty="0"/>
              <a:t>Huấn </a:t>
            </a:r>
            <a:r>
              <a:rPr lang="en-US" sz="1600" dirty="0" err="1"/>
              <a:t>luyện</a:t>
            </a:r>
            <a:r>
              <a:rPr lang="en-US" sz="1600" dirty="0"/>
              <a:t> song </a:t>
            </a:r>
            <a:r>
              <a:rPr lang="en-US" sz="1600" dirty="0" err="1"/>
              <a:t>song</a:t>
            </a:r>
            <a:r>
              <a:rPr lang="en-US" sz="1600" dirty="0"/>
              <a:t> </a:t>
            </a:r>
            <a:r>
              <a:rPr lang="en-US" sz="1600" dirty="0" err="1"/>
              <a:t>độc</a:t>
            </a:r>
            <a:r>
              <a:rPr lang="en-US" sz="1600" dirty="0"/>
              <a:t> </a:t>
            </a:r>
            <a:r>
              <a:rPr lang="en-US" sz="1600" dirty="0" err="1"/>
              <a:t>lập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Kết </a:t>
            </a:r>
            <a:r>
              <a:rPr lang="en-US" sz="1600" dirty="0" err="1"/>
              <a:t>hợp</a:t>
            </a:r>
            <a:r>
              <a:rPr lang="en-US" sz="1600" dirty="0"/>
              <a:t> </a:t>
            </a:r>
            <a:r>
              <a:rPr lang="en-US" sz="1600" dirty="0" err="1"/>
              <a:t>bằng</a:t>
            </a:r>
            <a:r>
              <a:rPr lang="en-US" sz="1600" dirty="0"/>
              <a:t> voting/ averaging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E4F1E3-444A-4940-D254-9E3EE2635503}"/>
              </a:ext>
            </a:extLst>
          </p:cNvPr>
          <p:cNvSpPr/>
          <p:nvPr/>
        </p:nvSpPr>
        <p:spPr>
          <a:xfrm>
            <a:off x="0" y="3247053"/>
            <a:ext cx="3797559" cy="354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Giải</a:t>
            </a:r>
            <a:r>
              <a:rPr lang="en-US" sz="1600" dirty="0"/>
              <a:t> </a:t>
            </a:r>
            <a:r>
              <a:rPr lang="en-US" sz="1600" dirty="0" err="1"/>
              <a:t>quyết</a:t>
            </a:r>
            <a:r>
              <a:rPr lang="en-US" sz="1600" dirty="0"/>
              <a:t>: </a:t>
            </a:r>
            <a:r>
              <a:rPr lang="en-US" sz="1600" dirty="0" err="1"/>
              <a:t>Giảm</a:t>
            </a:r>
            <a:r>
              <a:rPr lang="en-US" sz="1600" dirty="0"/>
              <a:t> Variance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D32884-8DC8-6D86-C5F4-235B4D1139DD}"/>
              </a:ext>
            </a:extLst>
          </p:cNvPr>
          <p:cNvSpPr/>
          <p:nvPr/>
        </p:nvSpPr>
        <p:spPr>
          <a:xfrm>
            <a:off x="93306" y="1172736"/>
            <a:ext cx="3554963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PARALLEL . Bagging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A1F09C-08C5-D693-4CA2-A22CDB9E3343}"/>
              </a:ext>
            </a:extLst>
          </p:cNvPr>
          <p:cNvSpPr/>
          <p:nvPr/>
        </p:nvSpPr>
        <p:spPr>
          <a:xfrm>
            <a:off x="18660" y="3741576"/>
            <a:ext cx="3797559" cy="35456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SEQUENTIAL . Boosting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5DFCB7-A938-1E12-CCF5-1FC18A19C27B}"/>
              </a:ext>
            </a:extLst>
          </p:cNvPr>
          <p:cNvSpPr/>
          <p:nvPr/>
        </p:nvSpPr>
        <p:spPr>
          <a:xfrm>
            <a:off x="18660" y="5606190"/>
            <a:ext cx="3778899" cy="40793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Giải</a:t>
            </a:r>
            <a:r>
              <a:rPr lang="en-US" sz="1600" dirty="0"/>
              <a:t> </a:t>
            </a:r>
            <a:r>
              <a:rPr lang="en-US" sz="1600" dirty="0" err="1"/>
              <a:t>quyết</a:t>
            </a:r>
            <a:r>
              <a:rPr lang="en-US" sz="1600" dirty="0"/>
              <a:t> : </a:t>
            </a:r>
            <a:r>
              <a:rPr lang="en-US" sz="1600" dirty="0" err="1"/>
              <a:t>Giảm</a:t>
            </a:r>
            <a:r>
              <a:rPr lang="en-US" sz="1600" dirty="0"/>
              <a:t> Bias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C20E34-7F69-0F5C-2FBD-801ED80F5523}"/>
              </a:ext>
            </a:extLst>
          </p:cNvPr>
          <p:cNvSpPr txBox="1"/>
          <p:nvPr/>
        </p:nvSpPr>
        <p:spPr>
          <a:xfrm>
            <a:off x="18660" y="4189445"/>
            <a:ext cx="37788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?Làm </a:t>
            </a:r>
            <a:r>
              <a:rPr lang="en-US" sz="1600" dirty="0" err="1"/>
              <a:t>sao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mô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</a:t>
            </a:r>
            <a:r>
              <a:rPr lang="en-US" sz="1600" dirty="0" err="1"/>
              <a:t>yếu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mô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</a:t>
            </a:r>
            <a:r>
              <a:rPr lang="en-US" sz="1600" dirty="0" err="1"/>
              <a:t>mạnh</a:t>
            </a:r>
            <a:r>
              <a:rPr lang="en-US" sz="1600" dirty="0"/>
              <a:t>?</a:t>
            </a:r>
          </a:p>
          <a:p>
            <a:pPr marL="342900" indent="-342900">
              <a:buAutoNum type="arabicPeriod"/>
            </a:pPr>
            <a:r>
              <a:rPr lang="en-US" sz="1600" dirty="0"/>
              <a:t>Khởi </a:t>
            </a:r>
            <a:r>
              <a:rPr lang="en-US" sz="1600" dirty="0" err="1"/>
              <a:t>tạo</a:t>
            </a:r>
            <a:r>
              <a:rPr lang="en-US" sz="1600" dirty="0"/>
              <a:t> </a:t>
            </a:r>
            <a:r>
              <a:rPr lang="en-US" sz="1600" dirty="0" err="1"/>
              <a:t>trọng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  <a:r>
              <a:rPr lang="en-US" sz="1600" dirty="0" err="1"/>
              <a:t>đều</a:t>
            </a:r>
            <a:r>
              <a:rPr lang="en-US" sz="1600" dirty="0"/>
              <a:t> </a:t>
            </a:r>
            <a:r>
              <a:rPr lang="en-US" sz="1600" dirty="0" err="1"/>
              <a:t>nhau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/>
              <a:t>Mỗi </a:t>
            </a:r>
            <a:r>
              <a:rPr lang="en-US" sz="1600" dirty="0" err="1"/>
              <a:t>vòng</a:t>
            </a:r>
            <a:r>
              <a:rPr lang="en-US" sz="1600" dirty="0"/>
              <a:t> </a:t>
            </a:r>
            <a:r>
              <a:rPr lang="en-US" sz="1600" dirty="0" err="1"/>
              <a:t>tập</a:t>
            </a:r>
            <a:r>
              <a:rPr lang="en-US" sz="1600" dirty="0"/>
              <a:t> </a:t>
            </a:r>
            <a:r>
              <a:rPr lang="en-US" sz="1600" dirty="0" err="1"/>
              <a:t>chung</a:t>
            </a:r>
            <a:r>
              <a:rPr lang="en-US" sz="1600" dirty="0"/>
              <a:t> </a:t>
            </a:r>
            <a:r>
              <a:rPr lang="en-US" sz="1600" dirty="0" err="1"/>
              <a:t>vào</a:t>
            </a:r>
            <a:r>
              <a:rPr lang="en-US" sz="1600" dirty="0"/>
              <a:t> </a:t>
            </a:r>
            <a:r>
              <a:rPr lang="en-US" sz="1600" dirty="0" err="1"/>
              <a:t>lỗi</a:t>
            </a:r>
            <a:r>
              <a:rPr lang="en-US" sz="1600" dirty="0"/>
              <a:t> </a:t>
            </a:r>
            <a:r>
              <a:rPr lang="en-US" sz="1600" dirty="0" err="1"/>
              <a:t>trước</a:t>
            </a:r>
            <a:endParaRPr lang="en-US" sz="1600" dirty="0"/>
          </a:p>
          <a:p>
            <a:pPr marL="342900" indent="-342900">
              <a:buAutoNum type="arabicPeriod"/>
            </a:pPr>
            <a:r>
              <a:rPr lang="en-US" sz="1600" dirty="0" err="1"/>
              <a:t>Kết</a:t>
            </a:r>
            <a:r>
              <a:rPr lang="en-US" sz="1600" dirty="0"/>
              <a:t> </a:t>
            </a:r>
            <a:r>
              <a:rPr lang="en-US" sz="1600" dirty="0" err="1"/>
              <a:t>hợp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trọng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( weighted)</a:t>
            </a:r>
          </a:p>
        </p:txBody>
      </p:sp>
    </p:spTree>
    <p:extLst>
      <p:ext uri="{BB962C8B-B14F-4D97-AF65-F5344CB8AC3E}">
        <p14:creationId xmlns:p14="http://schemas.microsoft.com/office/powerpoint/2010/main" val="2970517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D94A0-562F-41A3-E0C9-9C682AECF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D7D9F4F-1262-0AB8-98D2-92830E002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593833A-DEC5-609E-DE20-9163CA6B04F7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E926B55-B4E5-3C24-9960-3A5B6EE8FF6D}"/>
              </a:ext>
            </a:extLst>
          </p:cNvPr>
          <p:cNvSpPr txBox="1"/>
          <p:nvPr/>
        </p:nvSpPr>
        <p:spPr>
          <a:xfrm>
            <a:off x="273050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I:EMSEMBLE LEARNING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D886F3-B1F9-8744-6325-9DF107E7194C}"/>
              </a:ext>
            </a:extLst>
          </p:cNvPr>
          <p:cNvSpPr txBox="1"/>
          <p:nvPr/>
        </p:nvSpPr>
        <p:spPr>
          <a:xfrm>
            <a:off x="273050" y="803404"/>
            <a:ext cx="8432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1.3 </a:t>
            </a:r>
            <a:r>
              <a:rPr lang="en-US" b="1" dirty="0" err="1"/>
              <a:t>Điều</a:t>
            </a:r>
            <a:r>
              <a:rPr lang="en-US" b="1" dirty="0"/>
              <a:t> </a:t>
            </a:r>
            <a:r>
              <a:rPr lang="en-US" b="1" dirty="0" err="1"/>
              <a:t>kiện</a:t>
            </a:r>
            <a:r>
              <a:rPr lang="en-US" b="1" dirty="0"/>
              <a:t> </a:t>
            </a:r>
            <a:r>
              <a:rPr lang="en-US" b="1" dirty="0" err="1"/>
              <a:t>để</a:t>
            </a:r>
            <a:r>
              <a:rPr lang="en-US" b="1" dirty="0"/>
              <a:t> Ensemble learning </a:t>
            </a:r>
            <a:r>
              <a:rPr lang="en-US" b="1" dirty="0" err="1"/>
              <a:t>hiệu</a:t>
            </a:r>
            <a:r>
              <a:rPr lang="en-US" b="1" dirty="0"/>
              <a:t> </a:t>
            </a:r>
            <a:r>
              <a:rPr lang="en-US" b="1" dirty="0" err="1"/>
              <a:t>quả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A2B7C7-5810-67CD-FAD1-122D50D04023}"/>
              </a:ext>
            </a:extLst>
          </p:cNvPr>
          <p:cNvSpPr txBox="1"/>
          <p:nvPr/>
        </p:nvSpPr>
        <p:spPr>
          <a:xfrm>
            <a:off x="765110" y="1756533"/>
            <a:ext cx="79590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Độ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chính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</a:rPr>
              <a:t>xác</a:t>
            </a:r>
            <a:endParaRPr lang="en-US" sz="2400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sz="1600" dirty="0"/>
              <a:t>Mỗi </a:t>
            </a:r>
            <a:r>
              <a:rPr lang="en-US" sz="1600" dirty="0" err="1"/>
              <a:t>mô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phần</a:t>
            </a:r>
            <a:r>
              <a:rPr lang="en-US" sz="1600" dirty="0"/>
              <a:t> </a:t>
            </a:r>
            <a:r>
              <a:rPr lang="en-US" sz="1600" dirty="0" err="1"/>
              <a:t>phải</a:t>
            </a:r>
            <a:r>
              <a:rPr lang="en-US" sz="1600" dirty="0"/>
              <a:t> </a:t>
            </a:r>
            <a:r>
              <a:rPr lang="en-US" sz="1600" dirty="0" err="1"/>
              <a:t>tốt</a:t>
            </a:r>
            <a:r>
              <a:rPr lang="en-US" sz="1600" dirty="0"/>
              <a:t> </a:t>
            </a:r>
            <a:r>
              <a:rPr lang="en-US" sz="1600" dirty="0" err="1"/>
              <a:t>hơn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  <a:r>
              <a:rPr lang="en-US" sz="1600" dirty="0" err="1"/>
              <a:t>ngẫu</a:t>
            </a:r>
            <a:r>
              <a:rPr lang="en-US" sz="1600" dirty="0"/>
              <a:t> </a:t>
            </a:r>
            <a:r>
              <a:rPr lang="en-US" sz="1600" dirty="0" err="1"/>
              <a:t>nhiên</a:t>
            </a:r>
            <a:r>
              <a:rPr lang="en-US" sz="1600" dirty="0"/>
              <a:t> ( &gt;50%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bài</a:t>
            </a:r>
            <a:r>
              <a:rPr lang="en-US" sz="1600" dirty="0"/>
              <a:t> </a:t>
            </a:r>
            <a:r>
              <a:rPr lang="en-US" sz="1600" dirty="0" err="1"/>
              <a:t>toán</a:t>
            </a:r>
            <a:r>
              <a:rPr lang="en-US" sz="1600" dirty="0"/>
              <a:t> </a:t>
            </a:r>
            <a:r>
              <a:rPr lang="en-US" sz="1600" dirty="0" err="1"/>
              <a:t>phân</a:t>
            </a:r>
            <a:r>
              <a:rPr lang="en-US" sz="1600" dirty="0"/>
              <a:t> </a:t>
            </a:r>
            <a:r>
              <a:rPr lang="en-US" sz="1600" dirty="0" err="1"/>
              <a:t>loại</a:t>
            </a:r>
            <a:r>
              <a:rPr lang="en-US" sz="1600" dirty="0"/>
              <a:t> </a:t>
            </a:r>
            <a:r>
              <a:rPr lang="en-US" sz="1600" dirty="0" err="1"/>
              <a:t>nhị</a:t>
            </a:r>
            <a:r>
              <a:rPr lang="en-US" sz="1600" dirty="0"/>
              <a:t> </a:t>
            </a:r>
            <a:r>
              <a:rPr lang="en-US" sz="1600" dirty="0" err="1"/>
              <a:t>phân</a:t>
            </a:r>
            <a:r>
              <a:rPr lang="en-US" sz="1600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934F2D-0A9C-14D0-9CED-88E60B9211B3}"/>
              </a:ext>
            </a:extLst>
          </p:cNvPr>
          <p:cNvSpPr txBox="1"/>
          <p:nvPr/>
        </p:nvSpPr>
        <p:spPr>
          <a:xfrm>
            <a:off x="752345" y="3043485"/>
            <a:ext cx="74738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</a:rPr>
              <a:t>Đa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</a:rPr>
              <a:t>dạng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US" sz="2400" b="1" dirty="0" err="1">
                <a:solidFill>
                  <a:schemeClr val="accent6">
                    <a:lumMod val="50000"/>
                  </a:schemeClr>
                </a:solidFill>
              </a:rPr>
              <a:t>hoá</a:t>
            </a:r>
            <a:endParaRPr lang="en-US" sz="2400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US" sz="1600" dirty="0"/>
              <a:t>Các </a:t>
            </a:r>
            <a:r>
              <a:rPr lang="en-US" sz="1600" dirty="0" err="1"/>
              <a:t>mô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</a:t>
            </a:r>
            <a:r>
              <a:rPr lang="en-US" sz="1600" dirty="0" err="1"/>
              <a:t>phải</a:t>
            </a:r>
            <a:r>
              <a:rPr lang="en-US" sz="1600" dirty="0"/>
              <a:t> </a:t>
            </a:r>
            <a:r>
              <a:rPr lang="en-US" sz="1600" dirty="0" err="1"/>
              <a:t>mắc</a:t>
            </a:r>
            <a:r>
              <a:rPr lang="en-US" sz="1600" dirty="0"/>
              <a:t> </a:t>
            </a:r>
            <a:r>
              <a:rPr lang="en-US" sz="1600" dirty="0" err="1"/>
              <a:t>lỗi</a:t>
            </a:r>
            <a:r>
              <a:rPr lang="en-US" sz="1600" dirty="0"/>
              <a:t> </a:t>
            </a:r>
            <a:r>
              <a:rPr lang="en-US" sz="1600" dirty="0" err="1"/>
              <a:t>tại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khác</a:t>
            </a:r>
            <a:r>
              <a:rPr lang="en-US" sz="1600" dirty="0"/>
              <a:t> </a:t>
            </a:r>
            <a:r>
              <a:rPr lang="en-US" sz="1600" dirty="0" err="1"/>
              <a:t>nhau</a:t>
            </a:r>
            <a:r>
              <a:rPr lang="en-US" sz="1600" dirty="0"/>
              <a:t>- </a:t>
            </a:r>
            <a:r>
              <a:rPr lang="en-US" sz="1600" dirty="0" err="1"/>
              <a:t>sai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  <a:r>
              <a:rPr lang="en-US" sz="1600" dirty="0" err="1"/>
              <a:t>ngẫu</a:t>
            </a:r>
            <a:r>
              <a:rPr lang="en-US" sz="1600" dirty="0"/>
              <a:t> </a:t>
            </a:r>
            <a:r>
              <a:rPr lang="en-US" sz="1600" dirty="0" err="1"/>
              <a:t>nhiên</a:t>
            </a:r>
            <a:r>
              <a:rPr lang="en-US" sz="1600" dirty="0"/>
              <a:t> </a:t>
            </a:r>
            <a:r>
              <a:rPr lang="en-US" sz="1600" dirty="0" err="1"/>
              <a:t>mới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thể</a:t>
            </a:r>
            <a:r>
              <a:rPr lang="en-US" sz="1600" dirty="0"/>
              <a:t> </a:t>
            </a:r>
            <a:r>
              <a:rPr lang="en-US" sz="1600" dirty="0" err="1"/>
              <a:t>triệt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r>
              <a:rPr lang="en-US" sz="1600" dirty="0"/>
              <a:t> </a:t>
            </a:r>
            <a:r>
              <a:rPr lang="en-US" sz="1600" dirty="0" err="1"/>
              <a:t>nhau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268922-330D-0ACA-7A65-DC3CADB81739}"/>
              </a:ext>
            </a:extLst>
          </p:cNvPr>
          <p:cNvSpPr txBox="1"/>
          <p:nvPr/>
        </p:nvSpPr>
        <p:spPr>
          <a:xfrm>
            <a:off x="805089" y="4283687"/>
            <a:ext cx="7203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Kết </a:t>
            </a:r>
            <a:r>
              <a:rPr lang="en-US" sz="2400" b="1" dirty="0" err="1">
                <a:solidFill>
                  <a:srgbClr val="7030A0"/>
                </a:solidFill>
              </a:rPr>
              <a:t>hợp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dirty="0" err="1">
                <a:solidFill>
                  <a:srgbClr val="7030A0"/>
                </a:solidFill>
              </a:rPr>
              <a:t>đúng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r>
              <a:rPr lang="en-US" sz="2400" b="1" dirty="0" err="1">
                <a:solidFill>
                  <a:srgbClr val="7030A0"/>
                </a:solidFill>
              </a:rPr>
              <a:t>cách</a:t>
            </a:r>
            <a:endParaRPr lang="en-US" sz="2400" b="1" dirty="0">
              <a:solidFill>
                <a:srgbClr val="7030A0"/>
              </a:solidFill>
            </a:endParaRPr>
          </a:p>
          <a:p>
            <a:r>
              <a:rPr lang="en-US" sz="1600" dirty="0"/>
              <a:t>Voting( </a:t>
            </a:r>
            <a:r>
              <a:rPr lang="en-US" sz="1600" dirty="0" err="1"/>
              <a:t>phân</a:t>
            </a:r>
            <a:r>
              <a:rPr lang="en-US" sz="1600" dirty="0"/>
              <a:t> </a:t>
            </a:r>
            <a:r>
              <a:rPr lang="en-US" sz="1600" dirty="0" err="1"/>
              <a:t>loại</a:t>
            </a:r>
            <a:r>
              <a:rPr lang="en-US" sz="1600" dirty="0"/>
              <a:t>) – Averaging( </a:t>
            </a:r>
            <a:r>
              <a:rPr lang="en-US" sz="1600" dirty="0" err="1"/>
              <a:t>Hồi</a:t>
            </a:r>
            <a:r>
              <a:rPr lang="en-US" sz="1600" dirty="0"/>
              <a:t> </a:t>
            </a:r>
            <a:r>
              <a:rPr lang="en-US" sz="1600" dirty="0" err="1"/>
              <a:t>quy</a:t>
            </a:r>
            <a:r>
              <a:rPr lang="en-US" sz="1600" dirty="0"/>
              <a:t>)- Meta model/ Stacking( </a:t>
            </a:r>
            <a:r>
              <a:rPr lang="en-US" sz="1600" dirty="0" err="1"/>
              <a:t>Nâng</a:t>
            </a:r>
            <a:r>
              <a:rPr lang="en-US" sz="1600" dirty="0"/>
              <a:t> </a:t>
            </a:r>
            <a:r>
              <a:rPr lang="en-US" sz="1600" dirty="0" err="1"/>
              <a:t>cao</a:t>
            </a:r>
            <a:r>
              <a:rPr lang="en-US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04419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A3F76-1B30-D421-5272-726BC9880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EFC30045-C56D-2337-4301-6CFF41302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A29A443-4E50-20BF-780D-D2B191429201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1CF680C-F341-CD62-D420-3A1FE3CF6ABB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524484-5263-3C8C-2201-2CE243E5E5F5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01.Bagging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7B7CD6-905E-8811-5E76-6926A0FA9733}"/>
              </a:ext>
            </a:extLst>
          </p:cNvPr>
          <p:cNvSpPr txBox="1"/>
          <p:nvPr/>
        </p:nvSpPr>
        <p:spPr>
          <a:xfrm>
            <a:off x="367230" y="1265069"/>
            <a:ext cx="8244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1.1 Bagging( Bootstrap Aggregation)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C3EC49-F824-7F5C-22AC-8B0657579382}"/>
              </a:ext>
            </a:extLst>
          </p:cNvPr>
          <p:cNvSpPr txBox="1"/>
          <p:nvPr/>
        </p:nvSpPr>
        <p:spPr>
          <a:xfrm>
            <a:off x="367230" y="1726734"/>
            <a:ext cx="8432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Vào</a:t>
            </a:r>
            <a:r>
              <a:rPr lang="en-US" sz="1600" b="1" dirty="0"/>
              <a:t> </a:t>
            </a:r>
            <a:r>
              <a:rPr lang="en-US" sz="1600" b="1" dirty="0" err="1"/>
              <a:t>năm</a:t>
            </a:r>
            <a:r>
              <a:rPr lang="en-US" sz="1600" b="1" dirty="0"/>
              <a:t> 1996, Leo Breiman </a:t>
            </a:r>
            <a:r>
              <a:rPr lang="en-US" sz="1600" b="1" dirty="0" err="1"/>
              <a:t>đã</a:t>
            </a:r>
            <a:r>
              <a:rPr lang="en-US" sz="1600" b="1" dirty="0"/>
              <a:t> </a:t>
            </a:r>
            <a:r>
              <a:rPr lang="en-US" sz="1600" b="1" dirty="0" err="1"/>
              <a:t>giới</a:t>
            </a:r>
            <a:r>
              <a:rPr lang="en-US" sz="1600" b="1" dirty="0"/>
              <a:t> </a:t>
            </a:r>
            <a:r>
              <a:rPr lang="en-US" sz="1600" b="1" dirty="0" err="1"/>
              <a:t>thiệu</a:t>
            </a:r>
            <a:r>
              <a:rPr lang="en-US" sz="1600" b="1" dirty="0"/>
              <a:t> </a:t>
            </a:r>
            <a:r>
              <a:rPr lang="en-US" sz="1600" b="1" dirty="0" err="1"/>
              <a:t>thuật</a:t>
            </a:r>
            <a:r>
              <a:rPr lang="en-US" sz="1600" b="1" dirty="0"/>
              <a:t> </a:t>
            </a:r>
            <a:r>
              <a:rPr lang="en-US" sz="1600" b="1" dirty="0" err="1"/>
              <a:t>toán</a:t>
            </a:r>
            <a:r>
              <a:rPr lang="en-US" sz="1600" b="1" dirty="0"/>
              <a:t> bagging</a:t>
            </a:r>
            <a:endParaRPr lang="en-US" sz="1600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85DD41-7186-E425-76EC-0B93F0901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845" y="1224509"/>
            <a:ext cx="2205362" cy="22780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6586BC-8FA4-CCC6-E264-B3FD8F5C4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167" y="3786247"/>
            <a:ext cx="2070139" cy="207013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47CB03-320A-DA84-EC8A-4D7CA22DBDC1}"/>
              </a:ext>
            </a:extLst>
          </p:cNvPr>
          <p:cNvSpPr txBox="1"/>
          <p:nvPr/>
        </p:nvSpPr>
        <p:spPr>
          <a:xfrm>
            <a:off x="475861" y="2533771"/>
            <a:ext cx="52624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Bagging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viết</a:t>
            </a:r>
            <a:r>
              <a:rPr lang="en-US" sz="1600" dirty="0"/>
              <a:t> </a:t>
            </a:r>
            <a:r>
              <a:rPr lang="en-US" sz="1600" dirty="0" err="1"/>
              <a:t>tắt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cụm</a:t>
            </a:r>
            <a:r>
              <a:rPr lang="en-US" sz="1600" dirty="0"/>
              <a:t> </a:t>
            </a:r>
            <a:r>
              <a:rPr lang="en-US" sz="1600" dirty="0" err="1"/>
              <a:t>từ</a:t>
            </a:r>
            <a:r>
              <a:rPr lang="en-US" sz="1600" dirty="0"/>
              <a:t> bootstrap aggregation (</a:t>
            </a:r>
            <a:r>
              <a:rPr lang="en-US" sz="1600" dirty="0" err="1"/>
              <a:t>tổng</a:t>
            </a:r>
            <a:r>
              <a:rPr lang="en-US" sz="1600" dirty="0"/>
              <a:t> </a:t>
            </a:r>
            <a:r>
              <a:rPr lang="en-US" sz="1600" dirty="0" err="1"/>
              <a:t>hợp</a:t>
            </a:r>
            <a:r>
              <a:rPr lang="en-US" sz="1600" dirty="0"/>
              <a:t> bootstrap). Phương </a:t>
            </a:r>
            <a:r>
              <a:rPr lang="en-US" sz="1600" dirty="0" err="1"/>
              <a:t>pháp</a:t>
            </a:r>
            <a:r>
              <a:rPr lang="en-US" sz="1600" dirty="0"/>
              <a:t> </a:t>
            </a:r>
            <a:r>
              <a:rPr lang="en-US" sz="1600" dirty="0" err="1"/>
              <a:t>này</a:t>
            </a:r>
            <a:r>
              <a:rPr lang="en-US" sz="1600" dirty="0"/>
              <a:t> </a:t>
            </a:r>
            <a:r>
              <a:rPr lang="en-US" sz="1600" dirty="0" err="1"/>
              <a:t>xây</a:t>
            </a:r>
            <a:r>
              <a:rPr lang="en-US" sz="1600" dirty="0"/>
              <a:t> </a:t>
            </a:r>
            <a:r>
              <a:rPr lang="en-US" sz="1600" dirty="0" err="1"/>
              <a:t>dựng</a:t>
            </a:r>
            <a:r>
              <a:rPr lang="en-US" sz="1600" dirty="0"/>
              <a:t> </a:t>
            </a:r>
            <a:r>
              <a:rPr lang="en-US" sz="1600" dirty="0" err="1"/>
              <a:t>nhiều</a:t>
            </a:r>
            <a:r>
              <a:rPr lang="en-US" sz="1600" dirty="0"/>
              <a:t> </a:t>
            </a:r>
            <a:r>
              <a:rPr lang="en-US" sz="1600" dirty="0" err="1"/>
              <a:t>phiên</a:t>
            </a:r>
            <a:r>
              <a:rPr lang="en-US" sz="1600" dirty="0"/>
              <a:t> </a:t>
            </a:r>
            <a:r>
              <a:rPr lang="en-US" sz="1600" dirty="0" err="1"/>
              <a:t>bản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bộ</a:t>
            </a:r>
            <a:r>
              <a:rPr lang="en-US" sz="1600" dirty="0"/>
              <a:t> </a:t>
            </a:r>
            <a:r>
              <a:rPr lang="en-US" sz="1600" dirty="0" err="1"/>
              <a:t>ước</a:t>
            </a:r>
            <a:r>
              <a:rPr lang="en-US" sz="1600" dirty="0"/>
              <a:t> </a:t>
            </a:r>
            <a:r>
              <a:rPr lang="en-US" sz="1600" dirty="0" err="1"/>
              <a:t>lượng</a:t>
            </a:r>
            <a:r>
              <a:rPr lang="en-US" sz="1600" dirty="0"/>
              <a:t> </a:t>
            </a:r>
            <a:r>
              <a:rPr lang="en-US" sz="1600" dirty="0" err="1"/>
              <a:t>trên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mẫu</a:t>
            </a:r>
            <a:r>
              <a:rPr lang="en-US" sz="1600" dirty="0"/>
              <a:t> bootstrap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lấy</a:t>
            </a:r>
            <a:r>
              <a:rPr lang="en-US" sz="1600" dirty="0"/>
              <a:t> </a:t>
            </a:r>
            <a:r>
              <a:rPr lang="en-US" sz="1600" dirty="0" err="1"/>
              <a:t>từ</a:t>
            </a:r>
            <a:r>
              <a:rPr lang="en-US" sz="1600" dirty="0"/>
              <a:t>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</a:t>
            </a:r>
            <a:r>
              <a:rPr lang="en-US" sz="1600" dirty="0" err="1"/>
              <a:t>huấn</a:t>
            </a:r>
            <a:r>
              <a:rPr lang="en-US" sz="1600" dirty="0"/>
              <a:t> </a:t>
            </a:r>
            <a:r>
              <a:rPr lang="en-US" sz="1600" dirty="0" err="1"/>
              <a:t>luyện</a:t>
            </a:r>
            <a:r>
              <a:rPr lang="en-US" sz="1600" dirty="0"/>
              <a:t> </a:t>
            </a:r>
            <a:r>
              <a:rPr lang="en-US" sz="1600" dirty="0" err="1"/>
              <a:t>gốc</a:t>
            </a:r>
            <a:r>
              <a:rPr lang="en-US" sz="1600" dirty="0"/>
              <a:t>, </a:t>
            </a:r>
            <a:r>
              <a:rPr lang="en-US" sz="1600" dirty="0" err="1"/>
              <a:t>sau</a:t>
            </a:r>
            <a:r>
              <a:rPr lang="en-US" sz="1600" dirty="0"/>
              <a:t> </a:t>
            </a:r>
            <a:r>
              <a:rPr lang="en-US" sz="1600" dirty="0" err="1"/>
              <a:t>đó</a:t>
            </a:r>
            <a:r>
              <a:rPr lang="en-US" sz="1600" dirty="0"/>
              <a:t> </a:t>
            </a:r>
            <a:r>
              <a:rPr lang="en-US" sz="1600" dirty="0" err="1"/>
              <a:t>tổng</a:t>
            </a:r>
            <a:r>
              <a:rPr lang="en-US" sz="1600" dirty="0"/>
              <a:t> </a:t>
            </a:r>
            <a:r>
              <a:rPr lang="en-US" sz="1600" dirty="0" err="1"/>
              <a:t>hợp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  <a:r>
              <a:rPr lang="en-US" sz="1600" dirty="0" err="1"/>
              <a:t>riêng</a:t>
            </a:r>
            <a:r>
              <a:rPr lang="en-US" sz="1600" dirty="0"/>
              <a:t> </a:t>
            </a:r>
            <a:r>
              <a:rPr lang="en-US" sz="1600" dirty="0" err="1"/>
              <a:t>lẻ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chúng</a:t>
            </a:r>
            <a:r>
              <a:rPr lang="en-US" sz="1600" dirty="0"/>
              <a:t>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tạo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  <a:r>
              <a:rPr lang="en-US" sz="1600" dirty="0" err="1"/>
              <a:t>cuối</a:t>
            </a:r>
            <a:r>
              <a:rPr lang="en-US" sz="1600" dirty="0"/>
              <a:t> </a:t>
            </a:r>
            <a:r>
              <a:rPr lang="en-US" sz="1600" dirty="0" err="1"/>
              <a:t>cùng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08548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8404B-891B-775F-D202-259D647A5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18250D0-DCEC-3D1A-A95E-3A5723F67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BCBB548-81DB-403D-B341-B01461FC7858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FF2D448-18B9-9450-3188-6198BCEC69D6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C72492-D734-A8DC-4556-67C6E3594290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01.Bagging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B7BBEB-4CCB-0CD8-3E69-0F400BCA84D4}"/>
              </a:ext>
            </a:extLst>
          </p:cNvPr>
          <p:cNvSpPr txBox="1"/>
          <p:nvPr/>
        </p:nvSpPr>
        <p:spPr>
          <a:xfrm>
            <a:off x="367230" y="1265069"/>
            <a:ext cx="8244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1.1 Bagging( Bootstrap Aggregation)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D68416-60CE-B886-A52D-153364C92E71}"/>
              </a:ext>
            </a:extLst>
          </p:cNvPr>
          <p:cNvSpPr txBox="1"/>
          <p:nvPr/>
        </p:nvSpPr>
        <p:spPr>
          <a:xfrm>
            <a:off x="457200" y="1782147"/>
            <a:ext cx="8432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Bagging </a:t>
            </a:r>
            <a:r>
              <a:rPr lang="en-US" sz="1600" i="1" dirty="0" err="1"/>
              <a:t>xây</a:t>
            </a:r>
            <a:r>
              <a:rPr lang="en-US" sz="1600" i="1" dirty="0"/>
              <a:t> </a:t>
            </a:r>
            <a:r>
              <a:rPr lang="en-US" sz="1600" i="1" dirty="0" err="1"/>
              <a:t>dựng</a:t>
            </a:r>
            <a:r>
              <a:rPr lang="en-US" sz="1600" i="1" dirty="0"/>
              <a:t> </a:t>
            </a:r>
            <a:r>
              <a:rPr lang="en-US" sz="1600" i="1" dirty="0" err="1"/>
              <a:t>nhiều</a:t>
            </a:r>
            <a:r>
              <a:rPr lang="en-US" sz="1600" i="1" dirty="0"/>
              <a:t> </a:t>
            </a:r>
            <a:r>
              <a:rPr lang="en-US" sz="1600" i="1" dirty="0" err="1"/>
              <a:t>phiên</a:t>
            </a:r>
            <a:r>
              <a:rPr lang="en-US" sz="1600" i="1" dirty="0"/>
              <a:t> </a:t>
            </a:r>
            <a:r>
              <a:rPr lang="en-US" sz="1600" i="1" dirty="0" err="1"/>
              <a:t>bản</a:t>
            </a:r>
            <a:r>
              <a:rPr lang="en-US" sz="1600" i="1" dirty="0"/>
              <a:t> </a:t>
            </a:r>
            <a:r>
              <a:rPr lang="en-US" sz="1600" i="1" dirty="0" err="1"/>
              <a:t>mô</a:t>
            </a:r>
            <a:r>
              <a:rPr lang="en-US" sz="1600" i="1" dirty="0"/>
              <a:t> </a:t>
            </a:r>
            <a:r>
              <a:rPr lang="en-US" sz="1600" i="1" dirty="0" err="1"/>
              <a:t>hình</a:t>
            </a:r>
            <a:r>
              <a:rPr lang="en-US" sz="1600" i="1" dirty="0"/>
              <a:t> </a:t>
            </a:r>
            <a:r>
              <a:rPr lang="en-US" sz="1600" i="1" dirty="0" err="1"/>
              <a:t>trên</a:t>
            </a:r>
            <a:r>
              <a:rPr lang="en-US" sz="1600" i="1" dirty="0"/>
              <a:t> </a:t>
            </a:r>
            <a:r>
              <a:rPr lang="en-US" sz="1600" i="1" dirty="0" err="1"/>
              <a:t>các</a:t>
            </a:r>
            <a:r>
              <a:rPr lang="en-US" sz="1600" i="1" dirty="0"/>
              <a:t> </a:t>
            </a:r>
            <a:r>
              <a:rPr lang="en-US" sz="1600" i="1" dirty="0" err="1"/>
              <a:t>mẫu</a:t>
            </a:r>
            <a:r>
              <a:rPr lang="en-US" sz="1600" i="1" dirty="0"/>
              <a:t> </a:t>
            </a:r>
            <a:r>
              <a:rPr lang="en-US" sz="1600" i="1" dirty="0" err="1"/>
              <a:t>bootsrap</a:t>
            </a:r>
            <a:r>
              <a:rPr lang="en-US" sz="1600" i="1" dirty="0"/>
              <a:t> </a:t>
            </a:r>
            <a:r>
              <a:rPr lang="en-US" sz="1600" i="1" dirty="0" err="1"/>
              <a:t>từ</a:t>
            </a:r>
            <a:r>
              <a:rPr lang="en-US" sz="1600" i="1" dirty="0"/>
              <a:t> </a:t>
            </a:r>
            <a:r>
              <a:rPr lang="en-US" sz="1600" i="1" dirty="0" err="1"/>
              <a:t>dữ</a:t>
            </a:r>
            <a:r>
              <a:rPr lang="en-US" sz="1600" i="1" dirty="0"/>
              <a:t> </a:t>
            </a:r>
            <a:r>
              <a:rPr lang="en-US" sz="1600" i="1" dirty="0" err="1"/>
              <a:t>liệu</a:t>
            </a:r>
            <a:r>
              <a:rPr lang="en-US" sz="1600" i="1" dirty="0"/>
              <a:t> </a:t>
            </a:r>
            <a:r>
              <a:rPr lang="en-US" sz="1600" i="1" dirty="0" err="1"/>
              <a:t>gốc</a:t>
            </a:r>
            <a:r>
              <a:rPr lang="en-US" sz="1600" i="1" dirty="0"/>
              <a:t>, </a:t>
            </a:r>
            <a:r>
              <a:rPr lang="en-US" sz="1600" i="1" dirty="0" err="1"/>
              <a:t>sau</a:t>
            </a:r>
            <a:r>
              <a:rPr lang="en-US" sz="1600" i="1" dirty="0"/>
              <a:t> </a:t>
            </a:r>
            <a:r>
              <a:rPr lang="en-US" sz="1600" i="1" dirty="0" err="1"/>
              <a:t>đó</a:t>
            </a:r>
            <a:r>
              <a:rPr lang="en-US" sz="1600" i="1" dirty="0"/>
              <a:t> </a:t>
            </a:r>
            <a:r>
              <a:rPr lang="en-US" sz="1600" i="1" dirty="0" err="1"/>
              <a:t>tổng</a:t>
            </a:r>
            <a:r>
              <a:rPr lang="en-US" sz="1600" i="1" dirty="0"/>
              <a:t> </a:t>
            </a:r>
            <a:r>
              <a:rPr lang="en-US" sz="1600" i="1" dirty="0" err="1"/>
              <a:t>hợp</a:t>
            </a:r>
            <a:r>
              <a:rPr lang="en-US" sz="1600" i="1" dirty="0"/>
              <a:t> </a:t>
            </a:r>
            <a:r>
              <a:rPr lang="en-US" sz="1600" i="1" dirty="0" err="1"/>
              <a:t>các</a:t>
            </a:r>
            <a:r>
              <a:rPr lang="en-US" sz="1600" i="1" dirty="0"/>
              <a:t> </a:t>
            </a:r>
            <a:r>
              <a:rPr lang="en-US" sz="1600" i="1" dirty="0" err="1"/>
              <a:t>dự</a:t>
            </a:r>
            <a:r>
              <a:rPr lang="en-US" sz="1600" i="1" dirty="0"/>
              <a:t> </a:t>
            </a:r>
            <a:r>
              <a:rPr lang="en-US" sz="1600" i="1" dirty="0" err="1"/>
              <a:t>đoán</a:t>
            </a:r>
            <a:r>
              <a:rPr lang="en-US" sz="1600" i="1" dirty="0"/>
              <a:t> </a:t>
            </a:r>
            <a:r>
              <a:rPr lang="en-US" sz="1600" i="1" dirty="0" err="1"/>
              <a:t>riêng</a:t>
            </a:r>
            <a:r>
              <a:rPr lang="en-US" sz="1600" i="1" dirty="0"/>
              <a:t> </a:t>
            </a:r>
            <a:r>
              <a:rPr lang="en-US" sz="1600" i="1" dirty="0" err="1"/>
              <a:t>lẻ</a:t>
            </a:r>
            <a:r>
              <a:rPr lang="en-US" sz="1600" i="1" dirty="0"/>
              <a:t> </a:t>
            </a:r>
            <a:r>
              <a:rPr lang="en-US" sz="1600" i="1" dirty="0" err="1"/>
              <a:t>thành</a:t>
            </a:r>
            <a:r>
              <a:rPr lang="en-US" sz="1600" i="1" dirty="0"/>
              <a:t> </a:t>
            </a:r>
            <a:r>
              <a:rPr lang="en-US" sz="1600" i="1" dirty="0" err="1"/>
              <a:t>kết</a:t>
            </a:r>
            <a:r>
              <a:rPr lang="en-US" sz="1600" i="1" dirty="0"/>
              <a:t> </a:t>
            </a:r>
            <a:r>
              <a:rPr lang="en-US" sz="1600" i="1" dirty="0" err="1"/>
              <a:t>quả</a:t>
            </a:r>
            <a:r>
              <a:rPr lang="en-US" sz="1600" i="1" dirty="0"/>
              <a:t> </a:t>
            </a:r>
            <a:r>
              <a:rPr lang="en-US" sz="1600" i="1" dirty="0" err="1"/>
              <a:t>cuối</a:t>
            </a:r>
            <a:r>
              <a:rPr lang="en-US" sz="1600" i="1" dirty="0"/>
              <a:t> </a:t>
            </a:r>
            <a:r>
              <a:rPr lang="en-US" sz="1600" i="1" dirty="0" err="1"/>
              <a:t>cùng</a:t>
            </a:r>
            <a:r>
              <a:rPr lang="en-US" sz="1600" i="1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C13F02-1E1E-2297-B1B1-8E13C4426A32}"/>
              </a:ext>
            </a:extLst>
          </p:cNvPr>
          <p:cNvSpPr/>
          <p:nvPr/>
        </p:nvSpPr>
        <p:spPr>
          <a:xfrm>
            <a:off x="367230" y="2995127"/>
            <a:ext cx="2668555" cy="22570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24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24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2400" dirty="0">
              <a:solidFill>
                <a:schemeClr val="accent5">
                  <a:lumMod val="50000"/>
                </a:schemeClr>
              </a:solidFill>
            </a:endParaRPr>
          </a:p>
          <a:p>
            <a:pPr algn="ctr"/>
            <a:endParaRPr lang="en-US" sz="2400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spcAft>
                <a:spcPts val="3000"/>
              </a:spcAft>
            </a:pPr>
            <a:r>
              <a:rPr lang="en-US" sz="2400" dirty="0">
                <a:solidFill>
                  <a:schemeClr val="accent5">
                    <a:lumMod val="50000"/>
                  </a:schemeClr>
                </a:solidFill>
              </a:rPr>
              <a:t>Bootstrapping</a:t>
            </a:r>
            <a:endParaRPr lang="en-US" sz="1600" dirty="0"/>
          </a:p>
          <a:p>
            <a:pPr algn="just"/>
            <a:r>
              <a:rPr lang="en-US" sz="1600" dirty="0"/>
              <a:t>Rút </a:t>
            </a:r>
            <a:r>
              <a:rPr lang="en-US" sz="1600" dirty="0" err="1"/>
              <a:t>ngẫu</a:t>
            </a:r>
            <a:r>
              <a:rPr lang="en-US" sz="1600" dirty="0"/>
              <a:t> </a:t>
            </a:r>
            <a:r>
              <a:rPr lang="en-US" sz="1600" dirty="0" err="1"/>
              <a:t>nhiên</a:t>
            </a:r>
            <a:r>
              <a:rPr lang="en-US" sz="1600" dirty="0"/>
              <a:t> CÓ HOÀN LẠI </a:t>
            </a:r>
            <a:r>
              <a:rPr lang="en-US" sz="1600" dirty="0" err="1"/>
              <a:t>từ</a:t>
            </a:r>
            <a:r>
              <a:rPr lang="en-US" sz="1600" dirty="0"/>
              <a:t> dataset </a:t>
            </a:r>
            <a:r>
              <a:rPr lang="en-US" sz="1600" dirty="0" err="1"/>
              <a:t>gốc</a:t>
            </a:r>
            <a:r>
              <a:rPr lang="en-US" sz="1600" dirty="0"/>
              <a:t>-&gt; </a:t>
            </a:r>
            <a:r>
              <a:rPr lang="en-US" sz="1600" dirty="0" err="1"/>
              <a:t>tạo</a:t>
            </a:r>
            <a:r>
              <a:rPr lang="en-US" sz="1600" dirty="0"/>
              <a:t> </a:t>
            </a:r>
            <a:r>
              <a:rPr lang="en-US" sz="1600" dirty="0" err="1"/>
              <a:t>nhiều</a:t>
            </a:r>
            <a:r>
              <a:rPr lang="en-US" sz="1600" dirty="0"/>
              <a:t> </a:t>
            </a:r>
            <a:r>
              <a:rPr lang="en-US" sz="1600" dirty="0" err="1"/>
              <a:t>tập</a:t>
            </a:r>
            <a:r>
              <a:rPr lang="en-US" sz="1600" dirty="0"/>
              <a:t> con </a:t>
            </a:r>
            <a:r>
              <a:rPr lang="en-US" sz="1600" dirty="0" err="1"/>
              <a:t>khác</a:t>
            </a:r>
            <a:r>
              <a:rPr lang="en-US" sz="1600" dirty="0"/>
              <a:t> </a:t>
            </a:r>
            <a:r>
              <a:rPr lang="en-US" sz="1600" dirty="0" err="1"/>
              <a:t>nhau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endParaRPr lang="en-US" sz="1600" dirty="0"/>
          </a:p>
          <a:p>
            <a:pPr algn="just"/>
            <a:endParaRPr lang="en-US" sz="1600" dirty="0"/>
          </a:p>
          <a:p>
            <a:pPr algn="just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4E134-E6E4-0D9A-ECBF-63DACD381582}"/>
              </a:ext>
            </a:extLst>
          </p:cNvPr>
          <p:cNvSpPr/>
          <p:nvPr/>
        </p:nvSpPr>
        <p:spPr>
          <a:xfrm>
            <a:off x="3445896" y="3033380"/>
            <a:ext cx="2470151" cy="2218824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3000"/>
              </a:spcAft>
            </a:pPr>
            <a:r>
              <a:rPr lang="en-US" sz="2400" dirty="0">
                <a:solidFill>
                  <a:schemeClr val="accent1"/>
                </a:solidFill>
              </a:rPr>
              <a:t>Parallel Training</a:t>
            </a:r>
            <a:endParaRPr lang="en-US" dirty="0"/>
          </a:p>
          <a:p>
            <a:pPr algn="ctr"/>
            <a:r>
              <a:rPr lang="en-US" sz="1600" dirty="0" err="1"/>
              <a:t>Huấn</a:t>
            </a:r>
            <a:r>
              <a:rPr lang="en-US" sz="1600" dirty="0"/>
              <a:t> </a:t>
            </a:r>
            <a:r>
              <a:rPr lang="en-US" sz="1600" dirty="0" err="1"/>
              <a:t>luyện</a:t>
            </a:r>
            <a:r>
              <a:rPr lang="en-US" sz="1600" dirty="0"/>
              <a:t> </a:t>
            </a:r>
            <a:r>
              <a:rPr lang="en-US" sz="1600" dirty="0" err="1"/>
              <a:t>từ</a:t>
            </a:r>
            <a:r>
              <a:rPr lang="en-US" sz="1600" dirty="0"/>
              <a:t> </a:t>
            </a:r>
            <a:r>
              <a:rPr lang="en-US" sz="1600" dirty="0" err="1"/>
              <a:t>mô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</a:t>
            </a:r>
            <a:r>
              <a:rPr lang="en-US" sz="1600" dirty="0" err="1"/>
              <a:t>độc</a:t>
            </a:r>
            <a:r>
              <a:rPr lang="en-US" sz="1600" dirty="0"/>
              <a:t> </a:t>
            </a:r>
            <a:r>
              <a:rPr lang="en-US" sz="1600" dirty="0" err="1"/>
              <a:t>lập</a:t>
            </a:r>
            <a:r>
              <a:rPr lang="en-US" sz="1600" dirty="0"/>
              <a:t>, song </a:t>
            </a:r>
            <a:r>
              <a:rPr lang="en-US" sz="1600" dirty="0" err="1"/>
              <a:t>song</a:t>
            </a:r>
            <a:r>
              <a:rPr lang="en-US" sz="1600" dirty="0"/>
              <a:t> </a:t>
            </a:r>
            <a:r>
              <a:rPr lang="en-US" sz="1600" dirty="0" err="1"/>
              <a:t>trên</a:t>
            </a:r>
            <a:r>
              <a:rPr lang="en-US" sz="1600" dirty="0"/>
              <a:t> </a:t>
            </a:r>
            <a:r>
              <a:rPr lang="en-US" sz="1600" dirty="0" err="1"/>
              <a:t>mỗi</a:t>
            </a:r>
            <a:r>
              <a:rPr lang="en-US" sz="1600" dirty="0"/>
              <a:t> </a:t>
            </a:r>
            <a:r>
              <a:rPr lang="en-US" sz="1600" dirty="0" err="1"/>
              <a:t>tập</a:t>
            </a:r>
            <a:r>
              <a:rPr lang="en-US" sz="1600" dirty="0"/>
              <a:t> bootstrap</a:t>
            </a:r>
          </a:p>
          <a:p>
            <a:pPr algn="ctr"/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9B3E2C-0E71-71EA-EC13-AF3108AE3B07}"/>
              </a:ext>
            </a:extLst>
          </p:cNvPr>
          <p:cNvSpPr/>
          <p:nvPr/>
        </p:nvSpPr>
        <p:spPr>
          <a:xfrm>
            <a:off x="6326158" y="3028249"/>
            <a:ext cx="2470150" cy="225707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Aft>
                <a:spcPts val="3000"/>
              </a:spcAft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Aggregation</a:t>
            </a:r>
          </a:p>
          <a:p>
            <a:pPr algn="just"/>
            <a:r>
              <a:rPr lang="en-US" sz="1600" dirty="0" err="1"/>
              <a:t>Phân</a:t>
            </a:r>
            <a:r>
              <a:rPr lang="en-US" sz="1600" dirty="0"/>
              <a:t> </a:t>
            </a:r>
            <a:r>
              <a:rPr lang="en-US" sz="1600" dirty="0" err="1"/>
              <a:t>loại</a:t>
            </a:r>
            <a:r>
              <a:rPr lang="en-US" sz="1600" dirty="0"/>
              <a:t>: Voting </a:t>
            </a:r>
            <a:r>
              <a:rPr lang="en-US" sz="1600" dirty="0" err="1"/>
              <a:t>đa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</a:p>
          <a:p>
            <a:pPr algn="just"/>
            <a:r>
              <a:rPr lang="en-US" sz="1600" dirty="0" err="1"/>
              <a:t>Hồi</a:t>
            </a:r>
            <a:r>
              <a:rPr lang="en-US" sz="1600" dirty="0"/>
              <a:t> </a:t>
            </a:r>
            <a:r>
              <a:rPr lang="en-US" sz="1600" dirty="0" err="1"/>
              <a:t>quy</a:t>
            </a:r>
            <a:r>
              <a:rPr lang="en-US" sz="1600" dirty="0"/>
              <a:t>: </a:t>
            </a:r>
            <a:r>
              <a:rPr lang="en-US" sz="1600" dirty="0" err="1"/>
              <a:t>Lấy</a:t>
            </a:r>
            <a:r>
              <a:rPr lang="en-US" sz="1600" dirty="0"/>
              <a:t> </a:t>
            </a:r>
            <a:r>
              <a:rPr lang="en-US" sz="1600" dirty="0" err="1"/>
              <a:t>trung</a:t>
            </a:r>
            <a:r>
              <a:rPr lang="en-US" sz="1600" dirty="0"/>
              <a:t> </a:t>
            </a:r>
            <a:r>
              <a:rPr lang="en-US" sz="1600" dirty="0" err="1"/>
              <a:t>bình</a:t>
            </a:r>
            <a:r>
              <a:rPr lang="en-US" sz="1600" dirty="0"/>
              <a:t> </a:t>
            </a:r>
            <a:r>
              <a:rPr lang="en-US" sz="1600" dirty="0" err="1"/>
              <a:t>cộng</a:t>
            </a:r>
            <a:endParaRPr lang="en-US" sz="1600" dirty="0"/>
          </a:p>
          <a:p>
            <a:pPr algn="just"/>
            <a:endParaRPr lang="en-US" sz="1600" dirty="0"/>
          </a:p>
          <a:p>
            <a:pPr algn="just"/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C2CDE1-990C-4DA6-DE80-FED2FC746A29}"/>
              </a:ext>
            </a:extLst>
          </p:cNvPr>
          <p:cNvSpPr/>
          <p:nvPr/>
        </p:nvSpPr>
        <p:spPr>
          <a:xfrm>
            <a:off x="367231" y="5645020"/>
            <a:ext cx="842907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 err="1"/>
              <a:t>Ví</a:t>
            </a:r>
            <a:r>
              <a:rPr lang="en-US" sz="1600" dirty="0"/>
              <a:t> </a:t>
            </a:r>
            <a:r>
              <a:rPr lang="en-US" sz="1600" dirty="0" err="1"/>
              <a:t>dụ</a:t>
            </a:r>
            <a:r>
              <a:rPr lang="en-US" sz="1600" dirty="0"/>
              <a:t> </a:t>
            </a:r>
            <a:r>
              <a:rPr lang="en-US" sz="1600" dirty="0" err="1"/>
              <a:t>điển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: Random forest= Bagging + Decision Trees</a:t>
            </a:r>
          </a:p>
        </p:txBody>
      </p:sp>
    </p:spTree>
    <p:extLst>
      <p:ext uri="{BB962C8B-B14F-4D97-AF65-F5344CB8AC3E}">
        <p14:creationId xmlns:p14="http://schemas.microsoft.com/office/powerpoint/2010/main" val="489298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0882E-10FC-42E2-732F-3107E670D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47AD0C7-7321-FA85-1817-ED192CDF3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88BDC0A-BD74-4A9C-2809-1305B3CBE47C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BE4604F-1972-E89D-08FB-ED9C521230E9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87D965-BC91-3B4B-10B1-B6C49C3F4518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01.Bagging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DDBF1-402F-2F81-BE7A-71FA355600C0}"/>
              </a:ext>
            </a:extLst>
          </p:cNvPr>
          <p:cNvSpPr txBox="1"/>
          <p:nvPr/>
        </p:nvSpPr>
        <p:spPr>
          <a:xfrm>
            <a:off x="367230" y="1265069"/>
            <a:ext cx="82440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1.1 Bagging( Bootstrap Aggregation)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659AF5-C1A0-AC7E-BA63-8276AE114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249" y="1818862"/>
            <a:ext cx="5768332" cy="3987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35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E5056-F5FC-F22C-4C20-9D5615D99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9DB671AB-2758-4ECD-20F5-F689C0C4A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3584F41-BAE1-422F-9143-1C933A6430C8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60F98A3-91B0-BDCB-BE30-880B07022DAF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B6DC3C-7C54-9AB6-5E6B-1ADA933544EC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01.Bagging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E68390-B700-8AC4-1A5E-BE4C7DD51EC1}"/>
              </a:ext>
            </a:extLst>
          </p:cNvPr>
          <p:cNvSpPr txBox="1"/>
          <p:nvPr/>
        </p:nvSpPr>
        <p:spPr>
          <a:xfrm>
            <a:off x="368106" y="122231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1.2 </a:t>
            </a:r>
            <a:r>
              <a:rPr lang="en-US" b="1" dirty="0" err="1"/>
              <a:t>Ưu</a:t>
            </a:r>
            <a:r>
              <a:rPr lang="en-US" b="1" dirty="0"/>
              <a:t> </a:t>
            </a:r>
            <a:r>
              <a:rPr lang="en-US" b="1" dirty="0" err="1"/>
              <a:t>điểm</a:t>
            </a:r>
            <a:r>
              <a:rPr lang="en-US" b="1" dirty="0"/>
              <a:t> . Nhược </a:t>
            </a:r>
            <a:r>
              <a:rPr lang="en-US" b="1" dirty="0" err="1"/>
              <a:t>điểm</a:t>
            </a:r>
            <a:r>
              <a:rPr lang="en-US" b="1" dirty="0"/>
              <a:t>. </a:t>
            </a:r>
            <a:r>
              <a:rPr lang="en-US" b="1" dirty="0" err="1"/>
              <a:t>Ứng</a:t>
            </a:r>
            <a:r>
              <a:rPr lang="en-US" b="1" dirty="0"/>
              <a:t> </a:t>
            </a:r>
            <a:r>
              <a:rPr lang="en-US" b="1" dirty="0" err="1"/>
              <a:t>dụng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E88C74-C145-614F-D967-3B2ED5AF2862}"/>
              </a:ext>
            </a:extLst>
          </p:cNvPr>
          <p:cNvSpPr/>
          <p:nvPr/>
        </p:nvSpPr>
        <p:spPr>
          <a:xfrm>
            <a:off x="839755" y="1828800"/>
            <a:ext cx="3825551" cy="569167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59AA02-C65E-DB2A-5876-349AEDFADFE4}"/>
              </a:ext>
            </a:extLst>
          </p:cNvPr>
          <p:cNvSpPr/>
          <p:nvPr/>
        </p:nvSpPr>
        <p:spPr>
          <a:xfrm>
            <a:off x="4935894" y="1828800"/>
            <a:ext cx="3592286" cy="5691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F20299-990F-844A-3647-4752034434D7}"/>
              </a:ext>
            </a:extLst>
          </p:cNvPr>
          <p:cNvSpPr/>
          <p:nvPr/>
        </p:nvSpPr>
        <p:spPr>
          <a:xfrm>
            <a:off x="839755" y="2397967"/>
            <a:ext cx="3825551" cy="19594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+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khai</a:t>
            </a:r>
            <a:r>
              <a:rPr lang="en-US" dirty="0"/>
              <a:t>( scikit-learn)</a:t>
            </a:r>
          </a:p>
          <a:p>
            <a:r>
              <a:rPr lang="en-US" dirty="0"/>
              <a:t>+ </a:t>
            </a:r>
            <a:r>
              <a:rPr lang="en-US" dirty="0" err="1"/>
              <a:t>Giảm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  <a:p>
            <a:r>
              <a:rPr lang="en-US" dirty="0"/>
              <a:t>+ </a:t>
            </a:r>
            <a:r>
              <a:rPr lang="en-US" dirty="0" err="1"/>
              <a:t>Hỗ</a:t>
            </a:r>
            <a:r>
              <a:rPr lang="en-US" dirty="0"/>
              <a:t> </a:t>
            </a:r>
            <a:r>
              <a:rPr lang="en-US" dirty="0" err="1"/>
              <a:t>trợ</a:t>
            </a:r>
            <a:r>
              <a:rPr lang="en-US" dirty="0"/>
              <a:t> </a:t>
            </a:r>
            <a:r>
              <a:rPr lang="en-US" dirty="0" err="1"/>
              <a:t>huẩn</a:t>
            </a:r>
            <a:r>
              <a:rPr lang="en-US" dirty="0"/>
              <a:t> </a:t>
            </a:r>
            <a:r>
              <a:rPr lang="en-US" dirty="0" err="1"/>
              <a:t>luyện</a:t>
            </a:r>
            <a:r>
              <a:rPr lang="en-US" dirty="0"/>
              <a:t> song </a:t>
            </a:r>
            <a:r>
              <a:rPr lang="en-US" dirty="0" err="1"/>
              <a:t>song</a:t>
            </a:r>
            <a:endParaRPr lang="en-US" dirty="0"/>
          </a:p>
          <a:p>
            <a:r>
              <a:rPr lang="en-US" dirty="0"/>
              <a:t>+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tune </a:t>
            </a:r>
            <a:r>
              <a:rPr lang="en-US" dirty="0" err="1"/>
              <a:t>nhiều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7D576A-B282-2214-6CE5-4280E9CCDFED}"/>
              </a:ext>
            </a:extLst>
          </p:cNvPr>
          <p:cNvSpPr/>
          <p:nvPr/>
        </p:nvSpPr>
        <p:spPr>
          <a:xfrm>
            <a:off x="4935894" y="2358804"/>
            <a:ext cx="3592286" cy="19594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+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diễn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( black box)</a:t>
            </a:r>
          </a:p>
          <a:p>
            <a:r>
              <a:rPr lang="en-US" dirty="0"/>
              <a:t>+</a:t>
            </a:r>
            <a:r>
              <a:rPr lang="en-US" dirty="0" err="1"/>
              <a:t>Tốn</a:t>
            </a:r>
            <a:r>
              <a:rPr lang="en-US" dirty="0"/>
              <a:t>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nhớ</a:t>
            </a:r>
            <a:r>
              <a:rPr lang="en-US" dirty="0"/>
              <a:t> &amp;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endParaRPr lang="en-US" dirty="0"/>
          </a:p>
          <a:p>
            <a:r>
              <a:rPr lang="en-US" dirty="0"/>
              <a:t>+ </a:t>
            </a:r>
            <a:r>
              <a:rPr lang="en-US" dirty="0" err="1"/>
              <a:t>Kém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AFD6A-191F-F87C-2758-D4491CE83AA0}"/>
              </a:ext>
            </a:extLst>
          </p:cNvPr>
          <p:cNvSpPr/>
          <p:nvPr/>
        </p:nvSpPr>
        <p:spPr>
          <a:xfrm>
            <a:off x="531845" y="4646645"/>
            <a:ext cx="1511559" cy="4572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 </a:t>
            </a:r>
            <a:r>
              <a:rPr lang="en-US" dirty="0" err="1"/>
              <a:t>tế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885928-926D-5019-92E2-C58E0C06CE84}"/>
              </a:ext>
            </a:extLst>
          </p:cNvPr>
          <p:cNvSpPr/>
          <p:nvPr/>
        </p:nvSpPr>
        <p:spPr>
          <a:xfrm>
            <a:off x="2752530" y="4646645"/>
            <a:ext cx="1511559" cy="457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35B7DC-744C-C2D8-D85A-A2CFEFDBB483}"/>
              </a:ext>
            </a:extLst>
          </p:cNvPr>
          <p:cNvSpPr/>
          <p:nvPr/>
        </p:nvSpPr>
        <p:spPr>
          <a:xfrm>
            <a:off x="4973218" y="4646645"/>
            <a:ext cx="1427584" cy="4572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Môi</a:t>
            </a:r>
            <a:r>
              <a:rPr lang="en-US" dirty="0"/>
              <a:t> </a:t>
            </a:r>
            <a:r>
              <a:rPr lang="en-US" dirty="0" err="1"/>
              <a:t>trường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7A0940-629D-294C-17ED-AA780B67E52D}"/>
              </a:ext>
            </a:extLst>
          </p:cNvPr>
          <p:cNvSpPr/>
          <p:nvPr/>
        </p:nvSpPr>
        <p:spPr>
          <a:xfrm>
            <a:off x="7072605" y="4646645"/>
            <a:ext cx="1427584" cy="45720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Tài </a:t>
            </a:r>
            <a:r>
              <a:rPr lang="en-US" dirty="0" err="1"/>
              <a:t>chính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87825F-3E56-80EA-19F8-CB35748E487A}"/>
              </a:ext>
            </a:extLst>
          </p:cNvPr>
          <p:cNvSpPr/>
          <p:nvPr/>
        </p:nvSpPr>
        <p:spPr>
          <a:xfrm>
            <a:off x="531842" y="5103845"/>
            <a:ext cx="1511556" cy="79310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Dự</a:t>
            </a:r>
            <a:r>
              <a:rPr lang="en-US" sz="1400" dirty="0"/>
              <a:t> </a:t>
            </a:r>
            <a:r>
              <a:rPr lang="en-US" sz="1400" dirty="0" err="1"/>
              <a:t>đoán</a:t>
            </a:r>
            <a:r>
              <a:rPr lang="en-US" sz="1400" dirty="0"/>
              <a:t> </a:t>
            </a:r>
            <a:r>
              <a:rPr lang="en-US" sz="1400" dirty="0" err="1"/>
              <a:t>bệnh</a:t>
            </a:r>
            <a:r>
              <a:rPr lang="en-US" sz="1400" dirty="0"/>
              <a:t> </a:t>
            </a:r>
            <a:r>
              <a:rPr lang="en-US" sz="1400" dirty="0" err="1"/>
              <a:t>tiểu</a:t>
            </a:r>
            <a:r>
              <a:rPr lang="en-US" sz="1400" dirty="0"/>
              <a:t> </a:t>
            </a:r>
            <a:r>
              <a:rPr lang="en-US" sz="1400" dirty="0" err="1"/>
              <a:t>đường</a:t>
            </a:r>
            <a:r>
              <a:rPr lang="en-US" sz="1400" dirty="0"/>
              <a:t>, </a:t>
            </a:r>
            <a:r>
              <a:rPr lang="en-US" sz="1400" dirty="0" err="1"/>
              <a:t>chọn</a:t>
            </a:r>
            <a:r>
              <a:rPr lang="en-US" sz="1400" dirty="0"/>
              <a:t> gem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461248C-4AED-9698-8B49-01FD0EAA2937}"/>
              </a:ext>
            </a:extLst>
          </p:cNvPr>
          <p:cNvSpPr/>
          <p:nvPr/>
        </p:nvSpPr>
        <p:spPr>
          <a:xfrm>
            <a:off x="2752530" y="5103845"/>
            <a:ext cx="1511556" cy="79310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Phát</a:t>
            </a:r>
            <a:r>
              <a:rPr lang="en-US" sz="1400" dirty="0"/>
              <a:t> </a:t>
            </a:r>
            <a:r>
              <a:rPr lang="en-US" sz="1400" dirty="0" err="1"/>
              <a:t>hiện</a:t>
            </a:r>
            <a:r>
              <a:rPr lang="en-US" sz="1400" dirty="0"/>
              <a:t> </a:t>
            </a:r>
            <a:r>
              <a:rPr lang="en-US" sz="1400" dirty="0" err="1"/>
              <a:t>xâm</a:t>
            </a:r>
            <a:r>
              <a:rPr lang="en-US" sz="1400" dirty="0"/>
              <a:t> </a:t>
            </a:r>
            <a:r>
              <a:rPr lang="en-US" sz="1400" dirty="0" err="1"/>
              <a:t>nhạp</a:t>
            </a:r>
            <a:r>
              <a:rPr lang="en-US" sz="1400" dirty="0"/>
              <a:t> </a:t>
            </a:r>
            <a:r>
              <a:rPr lang="en-US" sz="1400" dirty="0" err="1"/>
              <a:t>mạng</a:t>
            </a:r>
            <a:endParaRPr lang="en-US" sz="1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DF3D37-9F66-23A6-801F-FFBCCBDC2399}"/>
              </a:ext>
            </a:extLst>
          </p:cNvPr>
          <p:cNvSpPr/>
          <p:nvPr/>
        </p:nvSpPr>
        <p:spPr>
          <a:xfrm>
            <a:off x="4973218" y="5103845"/>
            <a:ext cx="1427584" cy="7931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Bản</a:t>
            </a:r>
            <a:r>
              <a:rPr lang="en-US" sz="1400" dirty="0"/>
              <a:t> </a:t>
            </a:r>
            <a:r>
              <a:rPr lang="en-US" sz="1400" dirty="0" err="1"/>
              <a:t>đồ</a:t>
            </a:r>
            <a:r>
              <a:rPr lang="en-US" sz="1400" dirty="0"/>
              <a:t> </a:t>
            </a:r>
            <a:r>
              <a:rPr lang="en-US" sz="1400" dirty="0" err="1"/>
              <a:t>vùng</a:t>
            </a:r>
            <a:r>
              <a:rPr lang="en-US" sz="1400" dirty="0"/>
              <a:t> </a:t>
            </a:r>
            <a:r>
              <a:rPr lang="en-US" sz="1400" dirty="0" err="1"/>
              <a:t>đất</a:t>
            </a:r>
            <a:r>
              <a:rPr lang="en-US" sz="1400" dirty="0"/>
              <a:t> </a:t>
            </a:r>
            <a:r>
              <a:rPr lang="en-US" sz="1400" dirty="0" err="1"/>
              <a:t>ngập</a:t>
            </a:r>
            <a:r>
              <a:rPr lang="en-US" sz="1400" dirty="0"/>
              <a:t> </a:t>
            </a:r>
            <a:r>
              <a:rPr lang="en-US" sz="1400" dirty="0" err="1"/>
              <a:t>nước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5A53F75-4893-E2F8-C3F9-3590880925B9}"/>
              </a:ext>
            </a:extLst>
          </p:cNvPr>
          <p:cNvSpPr/>
          <p:nvPr/>
        </p:nvSpPr>
        <p:spPr>
          <a:xfrm>
            <a:off x="7072605" y="5103845"/>
            <a:ext cx="1427584" cy="79310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/>
              <a:t>Phát</a:t>
            </a:r>
            <a:r>
              <a:rPr lang="en-US" sz="1400" dirty="0"/>
              <a:t> </a:t>
            </a:r>
            <a:r>
              <a:rPr lang="en-US" sz="1400" dirty="0" err="1"/>
              <a:t>hiện</a:t>
            </a:r>
            <a:r>
              <a:rPr lang="en-US" sz="1400" dirty="0"/>
              <a:t> dan </a:t>
            </a:r>
            <a:r>
              <a:rPr lang="en-US" sz="1400" dirty="0" err="1"/>
              <a:t>lận</a:t>
            </a:r>
            <a:r>
              <a:rPr lang="en-US" sz="1400" dirty="0"/>
              <a:t> </a:t>
            </a:r>
            <a:r>
              <a:rPr lang="en-US" sz="1400" dirty="0" err="1"/>
              <a:t>rủi</a:t>
            </a:r>
            <a:r>
              <a:rPr lang="en-US" sz="1400" dirty="0"/>
              <a:t> do </a:t>
            </a:r>
            <a:r>
              <a:rPr lang="en-US" sz="1400" dirty="0" err="1"/>
              <a:t>tín</a:t>
            </a:r>
            <a:r>
              <a:rPr lang="en-US" sz="1400" dirty="0"/>
              <a:t> </a:t>
            </a:r>
            <a:r>
              <a:rPr lang="en-US" sz="1400" dirty="0" err="1"/>
              <a:t>dụng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49443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90AC5-00CC-97F5-D937-EAF1108BA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77C3DC6-3ABA-E7BB-FCAA-2E77813C6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565BC28-CF8B-4D1D-6CB7-5892BC62824E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8666B0-5992-77F0-DF0D-DE53BD8914DF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1A3032-7C5E-7ADB-DAE1-D82C46C59A11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02.Random Forest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10F6A-6CCD-B8DA-B9D7-311C54829156}"/>
              </a:ext>
            </a:extLst>
          </p:cNvPr>
          <p:cNvSpPr txBox="1"/>
          <p:nvPr/>
        </p:nvSpPr>
        <p:spPr>
          <a:xfrm>
            <a:off x="368106" y="122231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2.1 Random Forest </a:t>
            </a: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gì</a:t>
            </a:r>
            <a:r>
              <a:rPr lang="en-US" b="1" dirty="0"/>
              <a:t>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BBA78EE-7AB3-7E08-E026-BFCA5D2BF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706" y="2612569"/>
            <a:ext cx="4659287" cy="3442025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729AB56-03D1-099B-4C7E-970CDDB76C71}"/>
              </a:ext>
            </a:extLst>
          </p:cNvPr>
          <p:cNvSpPr/>
          <p:nvPr/>
        </p:nvSpPr>
        <p:spPr>
          <a:xfrm>
            <a:off x="494125" y="1548363"/>
            <a:ext cx="8154955" cy="77566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Random Forest= Ensemble Learning</a:t>
            </a:r>
          </a:p>
          <a:p>
            <a:pPr algn="ctr"/>
            <a:r>
              <a:rPr lang="en-US" sz="1600" i="1" dirty="0" err="1"/>
              <a:t>Tư</a:t>
            </a:r>
            <a:r>
              <a:rPr lang="en-US" sz="1600" i="1" dirty="0"/>
              <a:t> </a:t>
            </a:r>
            <a:r>
              <a:rPr lang="en-US" sz="1600" i="1" dirty="0" err="1"/>
              <a:t>tưởng</a:t>
            </a:r>
            <a:r>
              <a:rPr lang="en-US" sz="1600" i="1" dirty="0"/>
              <a:t> </a:t>
            </a:r>
            <a:r>
              <a:rPr lang="en-US" sz="1600" i="1" dirty="0" err="1"/>
              <a:t>cốt</a:t>
            </a:r>
            <a:r>
              <a:rPr lang="en-US" sz="1600" i="1" dirty="0"/>
              <a:t> </a:t>
            </a:r>
            <a:r>
              <a:rPr lang="en-US" sz="1600" i="1" dirty="0" err="1"/>
              <a:t>lõi</a:t>
            </a:r>
            <a:r>
              <a:rPr lang="en-US" sz="1600" i="1" dirty="0"/>
              <a:t>: “Trí </a:t>
            </a:r>
            <a:r>
              <a:rPr lang="en-US" sz="1600" i="1" dirty="0" err="1"/>
              <a:t>tuệ</a:t>
            </a:r>
            <a:r>
              <a:rPr lang="en-US" sz="1600" i="1" dirty="0"/>
              <a:t> </a:t>
            </a:r>
            <a:r>
              <a:rPr lang="en-US" sz="1600" i="1" dirty="0" err="1"/>
              <a:t>đám</a:t>
            </a:r>
            <a:r>
              <a:rPr lang="en-US" sz="1600" i="1" dirty="0"/>
              <a:t> </a:t>
            </a:r>
            <a:r>
              <a:rPr lang="en-US" sz="1600" i="1" dirty="0" err="1"/>
              <a:t>đông</a:t>
            </a:r>
            <a:r>
              <a:rPr lang="en-US" sz="1600" i="1" dirty="0"/>
              <a:t>”- </a:t>
            </a:r>
            <a:r>
              <a:rPr lang="en-US" sz="1600" i="1" dirty="0" err="1"/>
              <a:t>hàng</a:t>
            </a:r>
            <a:r>
              <a:rPr lang="en-US" sz="1600" i="1" dirty="0"/>
              <a:t> tram </a:t>
            </a:r>
            <a:r>
              <a:rPr lang="en-US" sz="1600" i="1" dirty="0" err="1"/>
              <a:t>cây</a:t>
            </a:r>
            <a:r>
              <a:rPr lang="en-US" sz="1600" i="1" dirty="0"/>
              <a:t> </a:t>
            </a:r>
            <a:r>
              <a:rPr lang="en-US" sz="1600" i="1" dirty="0" err="1"/>
              <a:t>quyết</a:t>
            </a:r>
            <a:r>
              <a:rPr lang="en-US" sz="1600" i="1" dirty="0"/>
              <a:t> </a:t>
            </a:r>
            <a:r>
              <a:rPr lang="en-US" sz="1600" i="1" dirty="0" err="1"/>
              <a:t>định</a:t>
            </a:r>
            <a:r>
              <a:rPr lang="en-US" sz="1600" i="1" dirty="0"/>
              <a:t> </a:t>
            </a:r>
            <a:r>
              <a:rPr lang="en-US" sz="1600" i="1" dirty="0" err="1"/>
              <a:t>cùng</a:t>
            </a:r>
            <a:r>
              <a:rPr lang="en-US" sz="1600" i="1" dirty="0"/>
              <a:t> </a:t>
            </a:r>
            <a:r>
              <a:rPr lang="en-US" sz="1600" i="1" dirty="0" err="1"/>
              <a:t>nhìn</a:t>
            </a:r>
            <a:r>
              <a:rPr lang="en-US" sz="1600" i="1" dirty="0"/>
              <a:t> </a:t>
            </a:r>
            <a:r>
              <a:rPr lang="en-US" sz="1600" i="1" dirty="0" err="1"/>
              <a:t>nhận</a:t>
            </a:r>
            <a:r>
              <a:rPr lang="en-US" sz="1600" i="1" dirty="0"/>
              <a:t> </a:t>
            </a:r>
            <a:r>
              <a:rPr lang="en-US" sz="1600" i="1" dirty="0" err="1"/>
              <a:t>dữ</a:t>
            </a:r>
            <a:r>
              <a:rPr lang="en-US" sz="1600" i="1" dirty="0"/>
              <a:t> </a:t>
            </a:r>
            <a:r>
              <a:rPr lang="en-US" sz="1600" i="1" dirty="0" err="1"/>
              <a:t>liệu</a:t>
            </a:r>
            <a:r>
              <a:rPr lang="en-US" sz="1600" i="1" dirty="0"/>
              <a:t>, </a:t>
            </a:r>
            <a:r>
              <a:rPr lang="en-US" sz="1600" i="1" dirty="0" err="1"/>
              <a:t>đa</a:t>
            </a:r>
            <a:r>
              <a:rPr lang="en-US" sz="1600" i="1" dirty="0"/>
              <a:t> </a:t>
            </a:r>
            <a:r>
              <a:rPr lang="en-US" sz="1600" i="1" dirty="0" err="1"/>
              <a:t>số</a:t>
            </a:r>
            <a:r>
              <a:rPr lang="en-US" sz="1600" i="1" dirty="0"/>
              <a:t> </a:t>
            </a:r>
            <a:r>
              <a:rPr lang="en-US" sz="1600" i="1" dirty="0" err="1"/>
              <a:t>thắng</a:t>
            </a:r>
            <a:endParaRPr lang="en-US" sz="1600" i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2EBB10-F9A5-C483-60FD-1DB228CB9593}"/>
              </a:ext>
            </a:extLst>
          </p:cNvPr>
          <p:cNvSpPr/>
          <p:nvPr/>
        </p:nvSpPr>
        <p:spPr>
          <a:xfrm>
            <a:off x="587829" y="2397967"/>
            <a:ext cx="3818877" cy="5637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Phân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( </a:t>
            </a:r>
            <a:r>
              <a:rPr lang="en-US" dirty="0" err="1"/>
              <a:t>Classlflcation</a:t>
            </a:r>
            <a:r>
              <a:rPr lang="en-US" dirty="0"/>
              <a:t>)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B1D45C-7FCD-E4FD-8B41-51BFF93C7A92}"/>
              </a:ext>
            </a:extLst>
          </p:cNvPr>
          <p:cNvSpPr/>
          <p:nvPr/>
        </p:nvSpPr>
        <p:spPr>
          <a:xfrm>
            <a:off x="587829" y="2961696"/>
            <a:ext cx="3818877" cy="116283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accent5"/>
                </a:solidFill>
              </a:rPr>
              <a:t>Voting </a:t>
            </a:r>
            <a:r>
              <a:rPr lang="en-US" sz="2400" dirty="0" err="1">
                <a:solidFill>
                  <a:schemeClr val="accent5"/>
                </a:solidFill>
              </a:rPr>
              <a:t>đa</a:t>
            </a:r>
            <a:r>
              <a:rPr lang="en-US" sz="2400" dirty="0">
                <a:solidFill>
                  <a:schemeClr val="accent5"/>
                </a:solidFill>
              </a:rPr>
              <a:t> </a:t>
            </a:r>
            <a:r>
              <a:rPr lang="en-US" sz="2400" dirty="0" err="1">
                <a:solidFill>
                  <a:schemeClr val="accent5"/>
                </a:solidFill>
              </a:rPr>
              <a:t>số</a:t>
            </a:r>
            <a:endParaRPr lang="en-US" sz="2400" dirty="0">
              <a:solidFill>
                <a:schemeClr val="accent5"/>
              </a:solidFill>
            </a:endParaRPr>
          </a:p>
          <a:p>
            <a:r>
              <a:rPr lang="en-US" dirty="0"/>
              <a:t>Mỗi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bỏ</a:t>
            </a:r>
            <a:r>
              <a:rPr lang="en-US" dirty="0"/>
              <a:t> 1 </a:t>
            </a:r>
            <a:r>
              <a:rPr lang="en-US" dirty="0" err="1"/>
              <a:t>phiếu</a:t>
            </a:r>
            <a:r>
              <a:rPr lang="en-US" dirty="0"/>
              <a:t> </a:t>
            </a:r>
            <a:r>
              <a:rPr lang="en-US" dirty="0" err="1"/>
              <a:t>nhãn</a:t>
            </a:r>
            <a:r>
              <a:rPr lang="en-US" dirty="0"/>
              <a:t> -&gt; </a:t>
            </a:r>
            <a:r>
              <a:rPr lang="en-US" dirty="0" err="1"/>
              <a:t>Nhãn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9121DF-81D3-04F8-1C2E-93CD73E1907D}"/>
              </a:ext>
            </a:extLst>
          </p:cNvPr>
          <p:cNvSpPr/>
          <p:nvPr/>
        </p:nvSpPr>
        <p:spPr>
          <a:xfrm>
            <a:off x="587829" y="4236098"/>
            <a:ext cx="3818877" cy="56938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Hồi</a:t>
            </a:r>
            <a:r>
              <a:rPr lang="en-US" dirty="0"/>
              <a:t> Quy( </a:t>
            </a:r>
            <a:r>
              <a:rPr lang="en-US" dirty="0" err="1"/>
              <a:t>Regresslon</a:t>
            </a:r>
            <a:r>
              <a:rPr lang="en-US" dirty="0"/>
              <a:t>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5C9792-222E-8F28-76B5-5A03B2397EDD}"/>
              </a:ext>
            </a:extLst>
          </p:cNvPr>
          <p:cNvSpPr/>
          <p:nvPr/>
        </p:nvSpPr>
        <p:spPr>
          <a:xfrm>
            <a:off x="587829" y="4805479"/>
            <a:ext cx="3818877" cy="12491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Lấy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trung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bình</a:t>
            </a:r>
            <a:endParaRPr lang="en-US" sz="2400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cuối</a:t>
            </a:r>
            <a:r>
              <a:rPr lang="en-US" dirty="0"/>
              <a:t> =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cộng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918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62FA70-029B-5ED3-18FB-D365CAC3C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77AB309-1207-1539-87AB-FCE73D660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3EF9AF6-969A-B723-0D8D-1DCA948783EE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D302CE0-BF72-D77B-CC0B-FA6668E0B56B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9BDBB7-AEDF-0AA3-E9B6-6907C4006F73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02.Random Forest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3BCC75-0FE9-E1A1-4E87-043C97A0E8E9}"/>
              </a:ext>
            </a:extLst>
          </p:cNvPr>
          <p:cNvSpPr txBox="1"/>
          <p:nvPr/>
        </p:nvSpPr>
        <p:spPr>
          <a:xfrm>
            <a:off x="368106" y="122231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2.2 </a:t>
            </a:r>
            <a:r>
              <a:rPr lang="en-US" b="1" dirty="0" err="1"/>
              <a:t>Tại</a:t>
            </a:r>
            <a:r>
              <a:rPr lang="en-US" b="1" dirty="0"/>
              <a:t> </a:t>
            </a:r>
            <a:r>
              <a:rPr lang="en-US" b="1" dirty="0" err="1"/>
              <a:t>sao</a:t>
            </a:r>
            <a:r>
              <a:rPr lang="en-US" b="1" dirty="0"/>
              <a:t>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cả</a:t>
            </a:r>
            <a:r>
              <a:rPr lang="en-US" b="1" dirty="0"/>
              <a:t> “Khu </a:t>
            </a:r>
            <a:r>
              <a:rPr lang="en-US" b="1" dirty="0" err="1"/>
              <a:t>Rừng</a:t>
            </a:r>
            <a:r>
              <a:rPr lang="en-US" b="1" dirty="0"/>
              <a:t>”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4F45DB-1189-56D4-EACA-922B74D1CCFE}"/>
              </a:ext>
            </a:extLst>
          </p:cNvPr>
          <p:cNvSpPr/>
          <p:nvPr/>
        </p:nvSpPr>
        <p:spPr>
          <a:xfrm>
            <a:off x="578498" y="1940767"/>
            <a:ext cx="3676261" cy="494523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Decision Tree-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2CC73C-C29A-27A6-1BA4-D4073C154221}"/>
              </a:ext>
            </a:extLst>
          </p:cNvPr>
          <p:cNvSpPr/>
          <p:nvPr/>
        </p:nvSpPr>
        <p:spPr>
          <a:xfrm>
            <a:off x="5187821" y="1940767"/>
            <a:ext cx="3517640" cy="57849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Random Forest-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1BB08E-BA15-FD96-369A-1860AE6FA1E3}"/>
              </a:ext>
            </a:extLst>
          </p:cNvPr>
          <p:cNvSpPr/>
          <p:nvPr/>
        </p:nvSpPr>
        <p:spPr>
          <a:xfrm>
            <a:off x="578498" y="2435290"/>
            <a:ext cx="3676261" cy="285967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err="1"/>
              <a:t>Phát</a:t>
            </a:r>
            <a:r>
              <a:rPr lang="en-US" sz="1600" dirty="0"/>
              <a:t> </a:t>
            </a:r>
            <a:r>
              <a:rPr lang="en-US" sz="1600" dirty="0" err="1"/>
              <a:t>triển</a:t>
            </a:r>
            <a:r>
              <a:rPr lang="en-US" sz="1600" dirty="0"/>
              <a:t> </a:t>
            </a:r>
            <a:r>
              <a:rPr lang="en-US" sz="1600" dirty="0" err="1"/>
              <a:t>sâu</a:t>
            </a:r>
            <a:r>
              <a:rPr lang="en-US" sz="1600" dirty="0"/>
              <a:t>-&gt; </a:t>
            </a:r>
            <a:r>
              <a:rPr lang="en-US" sz="1600" dirty="0" err="1"/>
              <a:t>học</a:t>
            </a:r>
            <a:r>
              <a:rPr lang="en-US" sz="1600" dirty="0"/>
              <a:t> </a:t>
            </a:r>
            <a:r>
              <a:rPr lang="en-US" sz="1600" dirty="0" err="1"/>
              <a:t>thuộc</a:t>
            </a:r>
            <a:r>
              <a:rPr lang="en-US" sz="1600" dirty="0"/>
              <a:t> long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Overfitting: </a:t>
            </a:r>
            <a:r>
              <a:rPr lang="en-US" sz="1600" dirty="0" err="1"/>
              <a:t>tốt</a:t>
            </a:r>
            <a:r>
              <a:rPr lang="en-US" sz="1600" dirty="0"/>
              <a:t> train, </a:t>
            </a:r>
            <a:r>
              <a:rPr lang="en-US" sz="1600" dirty="0" err="1"/>
              <a:t>tệ</a:t>
            </a:r>
            <a:r>
              <a:rPr lang="en-US" sz="1600" dirty="0"/>
              <a:t> </a:t>
            </a:r>
            <a:r>
              <a:rPr lang="en-US" sz="1600" dirty="0" err="1"/>
              <a:t>thực</a:t>
            </a:r>
            <a:r>
              <a:rPr lang="en-US" sz="1600" dirty="0"/>
              <a:t> </a:t>
            </a:r>
            <a:r>
              <a:rPr lang="en-US" sz="1600" dirty="0" err="1"/>
              <a:t>tế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Rất </a:t>
            </a:r>
            <a:r>
              <a:rPr lang="en-US" sz="1600" dirty="0" err="1"/>
              <a:t>nhạy</a:t>
            </a:r>
            <a:r>
              <a:rPr lang="en-US" sz="1600" dirty="0"/>
              <a:t> </a:t>
            </a:r>
            <a:r>
              <a:rPr lang="en-US" sz="1600" dirty="0" err="1"/>
              <a:t>cảm</a:t>
            </a:r>
            <a:r>
              <a:rPr lang="en-US" sz="1600" dirty="0"/>
              <a:t>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nhiễu</a:t>
            </a:r>
            <a:r>
              <a:rPr lang="en-US" sz="1600" dirty="0"/>
              <a:t>( noise)</a:t>
            </a:r>
          </a:p>
          <a:p>
            <a:endParaRPr lang="en-US" sz="1600" dirty="0"/>
          </a:p>
          <a:p>
            <a:r>
              <a:rPr lang="en-US" sz="1600" dirty="0"/>
              <a:t>Thay </a:t>
            </a:r>
            <a:r>
              <a:rPr lang="en-US" sz="1600" dirty="0" err="1"/>
              <a:t>đổi</a:t>
            </a:r>
            <a:r>
              <a:rPr lang="en-US" sz="1600" dirty="0"/>
              <a:t> data </a:t>
            </a:r>
            <a:r>
              <a:rPr lang="en-US" sz="1600" dirty="0" err="1"/>
              <a:t>nhỏ</a:t>
            </a:r>
            <a:r>
              <a:rPr lang="en-US" sz="1600" dirty="0"/>
              <a:t>-&gt; </a:t>
            </a:r>
            <a:r>
              <a:rPr lang="en-US" sz="1600" dirty="0" err="1"/>
              <a:t>cây</a:t>
            </a:r>
            <a:r>
              <a:rPr lang="en-US" sz="1600" dirty="0"/>
              <a:t> </a:t>
            </a:r>
            <a:r>
              <a:rPr lang="en-US" sz="1600" dirty="0" err="1"/>
              <a:t>lớn</a:t>
            </a:r>
            <a:r>
              <a:rPr lang="en-US" sz="1600" dirty="0"/>
              <a:t> </a:t>
            </a:r>
            <a:r>
              <a:rPr lang="en-US" sz="1600" dirty="0" err="1"/>
              <a:t>thay</a:t>
            </a:r>
            <a:r>
              <a:rPr lang="en-US" sz="1600" dirty="0"/>
              <a:t> </a:t>
            </a:r>
            <a:r>
              <a:rPr lang="en-US" sz="1600" dirty="0" err="1"/>
              <a:t>đổi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488F48-39ED-4A87-FEE7-5084E20711C6}"/>
              </a:ext>
            </a:extLst>
          </p:cNvPr>
          <p:cNvSpPr/>
          <p:nvPr/>
        </p:nvSpPr>
        <p:spPr>
          <a:xfrm>
            <a:off x="5187821" y="2519265"/>
            <a:ext cx="3517640" cy="27286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Luật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  <a:r>
              <a:rPr lang="en-US" sz="1600" dirty="0" err="1"/>
              <a:t>lớn</a:t>
            </a:r>
            <a:r>
              <a:rPr lang="en-US" sz="1600" dirty="0"/>
              <a:t> (Law of large Numbers)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 err="1"/>
              <a:t>Tăng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  <a:r>
              <a:rPr lang="en-US" sz="1600" dirty="0" err="1"/>
              <a:t>cây</a:t>
            </a:r>
            <a:r>
              <a:rPr lang="en-US" sz="1600" dirty="0"/>
              <a:t>-&gt; </a:t>
            </a:r>
            <a:r>
              <a:rPr lang="en-US" sz="1600" dirty="0" err="1"/>
              <a:t>sai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  <a:r>
              <a:rPr lang="en-US" sz="1600" dirty="0" err="1"/>
              <a:t>hội</a:t>
            </a:r>
            <a:r>
              <a:rPr lang="en-US" sz="1600" dirty="0"/>
              <a:t> </a:t>
            </a:r>
            <a:r>
              <a:rPr lang="en-US" sz="1600" dirty="0" err="1"/>
              <a:t>tụ</a:t>
            </a:r>
            <a:r>
              <a:rPr lang="en-US" sz="1600" dirty="0"/>
              <a:t>, </a:t>
            </a:r>
            <a:r>
              <a:rPr lang="en-US" sz="1600" dirty="0" err="1"/>
              <a:t>không</a:t>
            </a:r>
            <a:r>
              <a:rPr lang="en-US" sz="1600" dirty="0"/>
              <a:t> overfit</a:t>
            </a:r>
          </a:p>
          <a:p>
            <a:pPr algn="ctr"/>
            <a:endParaRPr lang="en-US" sz="1600" dirty="0"/>
          </a:p>
          <a:p>
            <a:pPr algn="ctr"/>
            <a:r>
              <a:rPr lang="en-US" sz="1600" dirty="0"/>
              <a:t>Sai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  <a:r>
              <a:rPr lang="en-US" sz="1600" dirty="0" err="1"/>
              <a:t>ngẫu</a:t>
            </a:r>
            <a:r>
              <a:rPr lang="en-US" sz="1600" dirty="0"/>
              <a:t> </a:t>
            </a:r>
            <a:r>
              <a:rPr lang="en-US" sz="1600" dirty="0" err="1"/>
              <a:t>nhiên</a:t>
            </a:r>
            <a:r>
              <a:rPr lang="en-US" sz="1600" dirty="0"/>
              <a:t> </a:t>
            </a:r>
            <a:r>
              <a:rPr lang="en-US" sz="1600" dirty="0" err="1"/>
              <a:t>triệt</a:t>
            </a:r>
            <a:r>
              <a:rPr lang="en-US" sz="1600" dirty="0"/>
              <a:t> </a:t>
            </a:r>
            <a:r>
              <a:rPr lang="en-US" sz="1600" dirty="0" err="1"/>
              <a:t>tiêu</a:t>
            </a:r>
            <a:r>
              <a:rPr lang="en-US" sz="1600" dirty="0"/>
              <a:t> </a:t>
            </a:r>
            <a:r>
              <a:rPr lang="en-US" sz="1600" dirty="0" err="1"/>
              <a:t>lẫn</a:t>
            </a:r>
            <a:r>
              <a:rPr lang="en-US" sz="1600" dirty="0"/>
              <a:t> </a:t>
            </a:r>
            <a:r>
              <a:rPr lang="en-US" sz="1600" dirty="0" err="1"/>
              <a:t>nhau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 err="1"/>
              <a:t>Thêm</a:t>
            </a:r>
            <a:r>
              <a:rPr lang="en-US" sz="1600" dirty="0"/>
              <a:t> </a:t>
            </a:r>
            <a:r>
              <a:rPr lang="en-US" sz="1600" dirty="0" err="1"/>
              <a:t>cây</a:t>
            </a:r>
            <a:r>
              <a:rPr lang="en-US" sz="1600" dirty="0"/>
              <a:t>= </a:t>
            </a:r>
            <a:r>
              <a:rPr lang="en-US" sz="1600" dirty="0" err="1"/>
              <a:t>mạnh</a:t>
            </a:r>
            <a:r>
              <a:rPr lang="en-US" sz="1600" dirty="0"/>
              <a:t> </a:t>
            </a:r>
            <a:r>
              <a:rPr lang="en-US" sz="1600" dirty="0" err="1"/>
              <a:t>hơn</a:t>
            </a:r>
            <a:r>
              <a:rPr lang="en-US" sz="1600" dirty="0"/>
              <a:t>, </a:t>
            </a:r>
            <a:r>
              <a:rPr lang="en-US" sz="1600" dirty="0" err="1"/>
              <a:t>ổn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r>
              <a:rPr lang="en-US" sz="1600" dirty="0"/>
              <a:t> </a:t>
            </a:r>
            <a:r>
              <a:rPr lang="en-US" sz="1600" dirty="0" err="1"/>
              <a:t>hơn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08BEF8-4DE7-8F18-B9C1-92E973EBEB32}"/>
              </a:ext>
            </a:extLst>
          </p:cNvPr>
          <p:cNvSpPr txBox="1"/>
          <p:nvPr/>
        </p:nvSpPr>
        <p:spPr>
          <a:xfrm>
            <a:off x="4338735" y="3429000"/>
            <a:ext cx="7557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3151428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6E198-FC64-B1C4-E5EE-6749E220D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6C12D1B-6BFA-19A0-603B-E0F92AD62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09AF5D-A747-74F0-95EF-36DB235FCB76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8DCB92-60E7-CEA7-1D89-A9F88A55597A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2A50F9-FAEC-96D9-0F9B-66F7DF185B25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02.Random Forest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87BEED-F855-7775-B796-16699A3521F8}"/>
              </a:ext>
            </a:extLst>
          </p:cNvPr>
          <p:cNvSpPr txBox="1"/>
          <p:nvPr/>
        </p:nvSpPr>
        <p:spPr>
          <a:xfrm>
            <a:off x="368106" y="122231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2.3 Công </a:t>
            </a:r>
            <a:r>
              <a:rPr lang="en-US" b="1" dirty="0" err="1"/>
              <a:t>thức</a:t>
            </a:r>
            <a:r>
              <a:rPr lang="en-US" b="1" dirty="0"/>
              <a:t> </a:t>
            </a:r>
            <a:r>
              <a:rPr lang="en-US" b="1" dirty="0" err="1"/>
              <a:t>hai</a:t>
            </a:r>
            <a:r>
              <a:rPr lang="en-US" b="1" dirty="0"/>
              <a:t> </a:t>
            </a:r>
            <a:r>
              <a:rPr lang="en-US" b="1" dirty="0" err="1"/>
              <a:t>nguồn</a:t>
            </a:r>
            <a:r>
              <a:rPr lang="en-US" b="1" dirty="0"/>
              <a:t> </a:t>
            </a:r>
            <a:r>
              <a:rPr lang="en-US" b="1" dirty="0" err="1"/>
              <a:t>ngẫu</a:t>
            </a:r>
            <a:r>
              <a:rPr lang="en-US" b="1" dirty="0"/>
              <a:t> </a:t>
            </a:r>
            <a:r>
              <a:rPr lang="en-US" b="1" dirty="0" err="1"/>
              <a:t>nhiên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5E8CFA-8FD5-8BED-3741-18554EBFDC4A}"/>
              </a:ext>
            </a:extLst>
          </p:cNvPr>
          <p:cNvSpPr/>
          <p:nvPr/>
        </p:nvSpPr>
        <p:spPr>
          <a:xfrm>
            <a:off x="513184" y="1744625"/>
            <a:ext cx="3909526" cy="53184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Lấy </a:t>
            </a:r>
            <a:r>
              <a:rPr lang="en-US" dirty="0" err="1"/>
              <a:t>mẫu</a:t>
            </a:r>
            <a:r>
              <a:rPr lang="en-US" dirty="0"/>
              <a:t> Bagging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92A594-97E4-9D74-78E1-53209EE4EF4F}"/>
              </a:ext>
            </a:extLst>
          </p:cNvPr>
          <p:cNvSpPr/>
          <p:nvPr/>
        </p:nvSpPr>
        <p:spPr>
          <a:xfrm>
            <a:off x="4721292" y="1744625"/>
            <a:ext cx="3724014" cy="53184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Chọn </a:t>
            </a:r>
            <a:r>
              <a:rPr lang="en-US" dirty="0" err="1"/>
              <a:t>đặc</a:t>
            </a:r>
            <a:r>
              <a:rPr lang="en-US" dirty="0"/>
              <a:t> </a:t>
            </a:r>
            <a:r>
              <a:rPr lang="en-US" dirty="0" err="1"/>
              <a:t>trưng</a:t>
            </a:r>
            <a:r>
              <a:rPr lang="en-US" dirty="0"/>
              <a:t>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B8CF9E-EC38-C0DA-B319-CEAE4ADB782D}"/>
              </a:ext>
            </a:extLst>
          </p:cNvPr>
          <p:cNvSpPr/>
          <p:nvPr/>
        </p:nvSpPr>
        <p:spPr>
          <a:xfrm>
            <a:off x="513185" y="2288418"/>
            <a:ext cx="3909525" cy="301849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Mỗi </a:t>
            </a:r>
            <a:r>
              <a:rPr lang="en-US" sz="1600" dirty="0" err="1"/>
              <a:t>cây</a:t>
            </a:r>
            <a:r>
              <a:rPr lang="en-US" sz="1600" dirty="0"/>
              <a:t> </a:t>
            </a:r>
            <a:r>
              <a:rPr lang="en-US" sz="1600" dirty="0" err="1"/>
              <a:t>chỉ</a:t>
            </a:r>
            <a:r>
              <a:rPr lang="en-US" sz="1600" dirty="0"/>
              <a:t> </a:t>
            </a:r>
            <a:r>
              <a:rPr lang="en-US" sz="1600" dirty="0" err="1"/>
              <a:t>lấy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phần</a:t>
            </a:r>
            <a:r>
              <a:rPr lang="en-US" sz="1600" dirty="0"/>
              <a:t>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do </a:t>
            </a:r>
            <a:r>
              <a:rPr lang="en-US" sz="1600" dirty="0" err="1"/>
              <a:t>rút</a:t>
            </a:r>
            <a:r>
              <a:rPr lang="en-US" sz="1600" dirty="0"/>
              <a:t> </a:t>
            </a:r>
            <a:r>
              <a:rPr lang="en-US" sz="1600" dirty="0" err="1"/>
              <a:t>ngẫu</a:t>
            </a:r>
            <a:r>
              <a:rPr lang="en-US" sz="1600" dirty="0"/>
              <a:t> </a:t>
            </a:r>
            <a:r>
              <a:rPr lang="en-US" sz="1600" dirty="0" err="1"/>
              <a:t>nhiên</a:t>
            </a:r>
            <a:r>
              <a:rPr lang="en-US" sz="1600" dirty="0"/>
              <a:t> CÓ HOÀN LẠI </a:t>
            </a:r>
            <a:r>
              <a:rPr lang="en-US" sz="1600" dirty="0" err="1"/>
              <a:t>từ</a:t>
            </a:r>
            <a:r>
              <a:rPr lang="en-US" sz="1600" dirty="0"/>
              <a:t> </a:t>
            </a:r>
            <a:r>
              <a:rPr lang="en-US" sz="1600" dirty="0" err="1"/>
              <a:t>tập</a:t>
            </a:r>
            <a:r>
              <a:rPr lang="en-US" sz="1600" dirty="0"/>
              <a:t> </a:t>
            </a:r>
            <a:r>
              <a:rPr lang="en-US" sz="1600" dirty="0" err="1"/>
              <a:t>huấn</a:t>
            </a:r>
            <a:r>
              <a:rPr lang="en-US" sz="1600" dirty="0"/>
              <a:t> </a:t>
            </a:r>
            <a:r>
              <a:rPr lang="en-US" sz="1600" dirty="0" err="1"/>
              <a:t>luyện</a:t>
            </a:r>
            <a:r>
              <a:rPr lang="en-US" sz="1600" dirty="0"/>
              <a:t> </a:t>
            </a:r>
            <a:r>
              <a:rPr lang="en-US" sz="1600" dirty="0" err="1"/>
              <a:t>gốc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2AB1E4-A71B-755E-A3FB-DDAFB5D5046F}"/>
              </a:ext>
            </a:extLst>
          </p:cNvPr>
          <p:cNvSpPr txBox="1"/>
          <p:nvPr/>
        </p:nvSpPr>
        <p:spPr>
          <a:xfrm>
            <a:off x="811763" y="2407298"/>
            <a:ext cx="3405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(</a:t>
            </a:r>
            <a:r>
              <a:rPr lang="en-US" sz="1600" i="1" dirty="0" err="1"/>
              <a:t>Boostrap</a:t>
            </a:r>
            <a:r>
              <a:rPr lang="en-US" sz="1600" i="1" dirty="0"/>
              <a:t> Sampling)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D77B89-8070-AFEF-53A1-80E622D39A9F}"/>
              </a:ext>
            </a:extLst>
          </p:cNvPr>
          <p:cNvSpPr/>
          <p:nvPr/>
        </p:nvSpPr>
        <p:spPr>
          <a:xfrm>
            <a:off x="606490" y="4730620"/>
            <a:ext cx="3816220" cy="48784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Các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thấy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95026B-C7E0-6D48-10F1-7BF351B61222}"/>
              </a:ext>
            </a:extLst>
          </p:cNvPr>
          <p:cNvSpPr/>
          <p:nvPr/>
        </p:nvSpPr>
        <p:spPr>
          <a:xfrm>
            <a:off x="4730071" y="2288418"/>
            <a:ext cx="3724014" cy="301849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Tại </a:t>
            </a:r>
            <a:r>
              <a:rPr lang="en-US" sz="1600" dirty="0" err="1"/>
              <a:t>mỗi</a:t>
            </a:r>
            <a:r>
              <a:rPr lang="en-US" sz="1600" dirty="0"/>
              <a:t> node </a:t>
            </a:r>
            <a:r>
              <a:rPr lang="en-US" sz="1600" dirty="0" err="1"/>
              <a:t>khi</a:t>
            </a:r>
            <a:r>
              <a:rPr lang="en-US" sz="1600" dirty="0"/>
              <a:t> </a:t>
            </a:r>
            <a:r>
              <a:rPr lang="en-US" sz="1600" dirty="0" err="1"/>
              <a:t>tách</a:t>
            </a:r>
            <a:r>
              <a:rPr lang="en-US" sz="1600" dirty="0"/>
              <a:t> </a:t>
            </a:r>
            <a:r>
              <a:rPr lang="en-US" sz="1600" dirty="0" err="1"/>
              <a:t>cây</a:t>
            </a:r>
            <a:r>
              <a:rPr lang="en-US" sz="1600" dirty="0"/>
              <a:t>, Chỉ </a:t>
            </a:r>
            <a:r>
              <a:rPr lang="en-US" sz="1600" dirty="0" err="1"/>
              <a:t>xét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tập</a:t>
            </a:r>
            <a:r>
              <a:rPr lang="en-US" sz="1600" dirty="0"/>
              <a:t> con </a:t>
            </a:r>
            <a:r>
              <a:rPr lang="en-US" sz="1600" dirty="0" err="1"/>
              <a:t>ngẫu</a:t>
            </a:r>
            <a:r>
              <a:rPr lang="en-US" sz="1600" dirty="0"/>
              <a:t> </a:t>
            </a:r>
            <a:r>
              <a:rPr lang="en-US" sz="1600" dirty="0" err="1"/>
              <a:t>nhiên</a:t>
            </a:r>
            <a:r>
              <a:rPr lang="en-US" sz="1600" dirty="0"/>
              <a:t>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541582-F124-F996-1D80-6CEFDBB371D8}"/>
              </a:ext>
            </a:extLst>
          </p:cNvPr>
          <p:cNvSpPr txBox="1"/>
          <p:nvPr/>
        </p:nvSpPr>
        <p:spPr>
          <a:xfrm>
            <a:off x="4851919" y="2407298"/>
            <a:ext cx="3480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(Random subspace/ Feature </a:t>
            </a:r>
            <a:r>
              <a:rPr lang="en-US" sz="1600" i="1" dirty="0" err="1"/>
              <a:t>Randommness</a:t>
            </a:r>
            <a:r>
              <a:rPr lang="en-US" sz="1600" i="1" dirty="0"/>
              <a:t>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1E3F34-BE88-7954-7D60-48C0EC27AC63}"/>
              </a:ext>
            </a:extLst>
          </p:cNvPr>
          <p:cNvSpPr/>
          <p:nvPr/>
        </p:nvSpPr>
        <p:spPr>
          <a:xfrm>
            <a:off x="4851919" y="4730620"/>
            <a:ext cx="3480318" cy="48784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Các </a:t>
            </a:r>
            <a:r>
              <a:rPr lang="en-US" dirty="0" err="1"/>
              <a:t>cây</a:t>
            </a:r>
            <a:r>
              <a:rPr lang="en-US" dirty="0"/>
              <a:t> </a:t>
            </a:r>
            <a:r>
              <a:rPr lang="en-US" dirty="0" err="1"/>
              <a:t>nhìn</a:t>
            </a:r>
            <a:r>
              <a:rPr lang="en-US" dirty="0"/>
              <a:t> </a:t>
            </a:r>
            <a:r>
              <a:rPr lang="en-US" dirty="0" err="1"/>
              <a:t>dữ</a:t>
            </a:r>
            <a:r>
              <a:rPr lang="en-US" dirty="0"/>
              <a:t> </a:t>
            </a:r>
            <a:r>
              <a:rPr lang="en-US" dirty="0" err="1"/>
              <a:t>liệu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góc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4059F3-CA78-9DA5-3E79-04BAADE7A9CF}"/>
              </a:ext>
            </a:extLst>
          </p:cNvPr>
          <p:cNvSpPr txBox="1"/>
          <p:nvPr/>
        </p:nvSpPr>
        <p:spPr>
          <a:xfrm>
            <a:off x="504405" y="5448852"/>
            <a:ext cx="79409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/>
              <a:t>Kết</a:t>
            </a:r>
            <a:r>
              <a:rPr lang="en-US" sz="1600" i="1" dirty="0"/>
              <a:t> </a:t>
            </a:r>
            <a:r>
              <a:rPr lang="en-US" sz="1600" i="1" dirty="0" err="1"/>
              <a:t>hợp</a:t>
            </a:r>
            <a:r>
              <a:rPr lang="en-US" sz="1600" i="1" dirty="0"/>
              <a:t> 2 </a:t>
            </a:r>
            <a:r>
              <a:rPr lang="en-US" sz="1600" i="1" dirty="0" err="1"/>
              <a:t>nguồn</a:t>
            </a:r>
            <a:r>
              <a:rPr lang="en-US" sz="1600" i="1" dirty="0"/>
              <a:t> </a:t>
            </a:r>
            <a:r>
              <a:rPr lang="en-US" sz="1600" i="1" dirty="0" err="1"/>
              <a:t>ngẫu</a:t>
            </a:r>
            <a:r>
              <a:rPr lang="en-US" sz="1600" i="1" dirty="0"/>
              <a:t> </a:t>
            </a:r>
            <a:r>
              <a:rPr lang="en-US" sz="1600" i="1" dirty="0" err="1"/>
              <a:t>nhiên</a:t>
            </a:r>
            <a:r>
              <a:rPr lang="en-US" sz="1600" i="1" dirty="0"/>
              <a:t> </a:t>
            </a:r>
            <a:r>
              <a:rPr lang="en-US" sz="1600" i="1" dirty="0" err="1"/>
              <a:t>này</a:t>
            </a:r>
            <a:r>
              <a:rPr lang="en-US" sz="1600" i="1" dirty="0"/>
              <a:t> </a:t>
            </a:r>
            <a:r>
              <a:rPr lang="en-US" sz="1600" i="1" dirty="0" err="1"/>
              <a:t>đảm</a:t>
            </a:r>
            <a:r>
              <a:rPr lang="en-US" sz="1600" i="1" dirty="0"/>
              <a:t> </a:t>
            </a:r>
            <a:r>
              <a:rPr lang="en-US" sz="1600" i="1" dirty="0" err="1"/>
              <a:t>bảo</a:t>
            </a:r>
            <a:r>
              <a:rPr lang="en-US" sz="1600" i="1" dirty="0"/>
              <a:t> </a:t>
            </a:r>
            <a:r>
              <a:rPr lang="en-US" sz="1600" i="1" dirty="0" err="1"/>
              <a:t>các</a:t>
            </a:r>
            <a:r>
              <a:rPr lang="en-US" sz="1600" i="1" dirty="0"/>
              <a:t> </a:t>
            </a:r>
            <a:r>
              <a:rPr lang="en-US" sz="1600" i="1" dirty="0" err="1"/>
              <a:t>cây</a:t>
            </a:r>
            <a:r>
              <a:rPr lang="en-US" sz="1600" i="1" dirty="0"/>
              <a:t> </a:t>
            </a:r>
            <a:r>
              <a:rPr lang="en-US" sz="1600" i="1" dirty="0" err="1"/>
              <a:t>trong</a:t>
            </a:r>
            <a:r>
              <a:rPr lang="en-US" sz="1600" i="1" dirty="0"/>
              <a:t> </a:t>
            </a:r>
            <a:r>
              <a:rPr lang="en-US" sz="1600" i="1" dirty="0" err="1"/>
              <a:t>rừng</a:t>
            </a:r>
            <a:r>
              <a:rPr lang="en-US" sz="1600" i="1" dirty="0"/>
              <a:t> </a:t>
            </a:r>
            <a:r>
              <a:rPr lang="en-US" sz="1600" i="1" dirty="0" err="1"/>
              <a:t>đủ</a:t>
            </a:r>
            <a:r>
              <a:rPr lang="en-US" sz="1600" i="1" dirty="0"/>
              <a:t> </a:t>
            </a:r>
            <a:r>
              <a:rPr lang="en-US" sz="1600" i="1" dirty="0" err="1"/>
              <a:t>Đa</a:t>
            </a:r>
            <a:r>
              <a:rPr lang="en-US" sz="1600" i="1" dirty="0"/>
              <a:t> Dạng </a:t>
            </a:r>
            <a:r>
              <a:rPr lang="en-US" sz="1600" i="1" dirty="0" err="1"/>
              <a:t>và</a:t>
            </a:r>
            <a:r>
              <a:rPr lang="en-US" sz="1600" i="1" dirty="0"/>
              <a:t> Độc </a:t>
            </a:r>
            <a:r>
              <a:rPr lang="en-US" sz="1600" i="1" dirty="0" err="1"/>
              <a:t>Lập</a:t>
            </a:r>
            <a:r>
              <a:rPr lang="en-US" sz="1600" i="1" dirty="0"/>
              <a:t>- </a:t>
            </a:r>
            <a:r>
              <a:rPr lang="en-US" sz="1600" i="1" dirty="0" err="1"/>
              <a:t>Điều</a:t>
            </a:r>
            <a:r>
              <a:rPr lang="en-US" sz="1600" i="1" dirty="0"/>
              <a:t> </a:t>
            </a:r>
            <a:r>
              <a:rPr lang="en-US" sz="1600" i="1" dirty="0" err="1"/>
              <a:t>kiện</a:t>
            </a:r>
            <a:r>
              <a:rPr lang="en-US" sz="1600" i="1" dirty="0"/>
              <a:t> </a:t>
            </a:r>
            <a:r>
              <a:rPr lang="en-US" sz="1600" i="1" dirty="0" err="1"/>
              <a:t>để</a:t>
            </a:r>
            <a:r>
              <a:rPr lang="en-US" sz="1600" i="1" dirty="0"/>
              <a:t> Ensemble </a:t>
            </a:r>
            <a:r>
              <a:rPr lang="en-US" sz="1600" i="1" dirty="0" err="1"/>
              <a:t>phát</a:t>
            </a:r>
            <a:r>
              <a:rPr lang="en-US" sz="1600" i="1" dirty="0"/>
              <a:t> </a:t>
            </a:r>
            <a:r>
              <a:rPr lang="en-US" sz="1600" i="1" dirty="0" err="1"/>
              <a:t>huy</a:t>
            </a:r>
            <a:r>
              <a:rPr lang="en-US" sz="1600" i="1" dirty="0"/>
              <a:t> </a:t>
            </a:r>
            <a:r>
              <a:rPr lang="en-US" sz="1600" i="1" dirty="0" err="1"/>
              <a:t>sức</a:t>
            </a:r>
            <a:r>
              <a:rPr lang="en-US" sz="1600" i="1" dirty="0"/>
              <a:t> </a:t>
            </a:r>
            <a:r>
              <a:rPr lang="en-US" sz="1600" i="1" dirty="0" err="1"/>
              <a:t>mạnh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2922650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366B4-4367-0848-8474-AA5782D09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CE4839C-4C91-CA96-5C88-6516E2239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D759A9A-B7E6-4FD2-845E-4CE341BD8BC2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A2D50C4-A28C-03FF-DCF9-54712D98936C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8E4AE1-B8E3-EDF9-6683-E00D3DF7871A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02.Random Forest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FC7A41-73CB-D7B9-3D94-2C886FC856A5}"/>
              </a:ext>
            </a:extLst>
          </p:cNvPr>
          <p:cNvSpPr txBox="1"/>
          <p:nvPr/>
        </p:nvSpPr>
        <p:spPr>
          <a:xfrm>
            <a:off x="368106" y="122231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2.4 OOB Error &amp; Feature Importance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5199BE-C34C-FB9C-9DA3-D657BD2E5BA3}"/>
              </a:ext>
            </a:extLst>
          </p:cNvPr>
          <p:cNvSpPr/>
          <p:nvPr/>
        </p:nvSpPr>
        <p:spPr>
          <a:xfrm>
            <a:off x="485192" y="1679510"/>
            <a:ext cx="3974841" cy="5505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Out-of-Bag(OOB) Error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FD8F9C-929E-5C8A-CA7C-CE35F5A9FEE1}"/>
              </a:ext>
            </a:extLst>
          </p:cNvPr>
          <p:cNvSpPr/>
          <p:nvPr/>
        </p:nvSpPr>
        <p:spPr>
          <a:xfrm>
            <a:off x="485191" y="2230016"/>
            <a:ext cx="3974841" cy="35829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/>
          </a:p>
          <a:p>
            <a:r>
              <a:rPr lang="en-US" sz="1400" dirty="0"/>
              <a:t>~ 1/3 </a:t>
            </a:r>
            <a:r>
              <a:rPr lang="en-US" sz="1400" dirty="0" err="1"/>
              <a:t>dữ</a:t>
            </a:r>
            <a:r>
              <a:rPr lang="en-US" sz="1400" dirty="0"/>
              <a:t> </a:t>
            </a:r>
            <a:r>
              <a:rPr lang="en-US" sz="1400" dirty="0" err="1"/>
              <a:t>liệu</a:t>
            </a:r>
            <a:r>
              <a:rPr lang="en-US" sz="1400" dirty="0"/>
              <a:t> </a:t>
            </a:r>
            <a:r>
              <a:rPr lang="en-US" sz="1400" dirty="0" err="1"/>
              <a:t>không</a:t>
            </a:r>
            <a:r>
              <a:rPr lang="en-US" sz="1400" dirty="0"/>
              <a:t> </a:t>
            </a:r>
            <a:r>
              <a:rPr lang="en-US" sz="1400" dirty="0" err="1"/>
              <a:t>được</a:t>
            </a:r>
            <a:r>
              <a:rPr lang="en-US" sz="1400" dirty="0"/>
              <a:t> </a:t>
            </a:r>
            <a:r>
              <a:rPr lang="en-US" sz="1400" dirty="0" err="1"/>
              <a:t>dùng</a:t>
            </a:r>
            <a:r>
              <a:rPr lang="en-US" sz="1400" dirty="0"/>
              <a:t> </a:t>
            </a:r>
            <a:r>
              <a:rPr lang="en-US" sz="1400" dirty="0" err="1"/>
              <a:t>để</a:t>
            </a:r>
            <a:r>
              <a:rPr lang="en-US" sz="1400" dirty="0"/>
              <a:t> </a:t>
            </a:r>
            <a:r>
              <a:rPr lang="en-US" sz="1400" dirty="0" err="1"/>
              <a:t>huấn</a:t>
            </a:r>
            <a:r>
              <a:rPr lang="en-US" sz="1400" dirty="0"/>
              <a:t> </a:t>
            </a:r>
            <a:r>
              <a:rPr lang="en-US" sz="1400" dirty="0" err="1"/>
              <a:t>luyện</a:t>
            </a:r>
            <a:r>
              <a:rPr lang="en-US" sz="1400" dirty="0"/>
              <a:t> </a:t>
            </a:r>
            <a:r>
              <a:rPr lang="en-US" sz="1400" dirty="0" err="1"/>
              <a:t>mỗi</a:t>
            </a:r>
            <a:r>
              <a:rPr lang="en-US" sz="1400" dirty="0"/>
              <a:t> </a:t>
            </a:r>
            <a:r>
              <a:rPr lang="en-US" sz="1400" dirty="0" err="1"/>
              <a:t>cây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Dữ</a:t>
            </a:r>
            <a:r>
              <a:rPr lang="en-US" sz="1400" dirty="0"/>
              <a:t> </a:t>
            </a:r>
            <a:r>
              <a:rPr lang="en-US" sz="1400" dirty="0" err="1"/>
              <a:t>liệu</a:t>
            </a:r>
            <a:r>
              <a:rPr lang="en-US" sz="1400" dirty="0"/>
              <a:t> “ </a:t>
            </a:r>
            <a:r>
              <a:rPr lang="en-US" sz="1400" dirty="0" err="1"/>
              <a:t>bị</a:t>
            </a:r>
            <a:r>
              <a:rPr lang="en-US" sz="1400" dirty="0"/>
              <a:t> </a:t>
            </a:r>
            <a:r>
              <a:rPr lang="en-US" sz="1400" dirty="0" err="1"/>
              <a:t>bỏ</a:t>
            </a:r>
            <a:r>
              <a:rPr lang="en-US" sz="1400" dirty="0"/>
              <a:t> </a:t>
            </a:r>
            <a:r>
              <a:rPr lang="en-US" sz="1400" dirty="0" err="1"/>
              <a:t>rơi</a:t>
            </a:r>
            <a:r>
              <a:rPr lang="en-US" sz="1400" dirty="0"/>
              <a:t>” </a:t>
            </a:r>
            <a:r>
              <a:rPr lang="en-US" sz="1400" dirty="0" err="1"/>
              <a:t>này</a:t>
            </a:r>
            <a:r>
              <a:rPr lang="en-US" sz="1400" dirty="0"/>
              <a:t> = </a:t>
            </a:r>
            <a:r>
              <a:rPr lang="en-US" sz="1400" dirty="0" err="1"/>
              <a:t>tập</a:t>
            </a:r>
            <a:r>
              <a:rPr lang="en-US" sz="1400" dirty="0"/>
              <a:t> test </a:t>
            </a:r>
            <a:r>
              <a:rPr lang="en-US" sz="1400" dirty="0" err="1"/>
              <a:t>nội</a:t>
            </a:r>
            <a:r>
              <a:rPr lang="en-US" sz="1400" dirty="0"/>
              <a:t> </a:t>
            </a:r>
            <a:r>
              <a:rPr lang="en-US" sz="1400" dirty="0" err="1"/>
              <a:t>bộ</a:t>
            </a:r>
            <a:r>
              <a:rPr lang="en-US" sz="1400" dirty="0"/>
              <a:t>(OOB)</a:t>
            </a:r>
          </a:p>
          <a:p>
            <a:endParaRPr lang="en-US" sz="1400" dirty="0"/>
          </a:p>
          <a:p>
            <a:r>
              <a:rPr lang="en-US" sz="1400" dirty="0" err="1"/>
              <a:t>Tự</a:t>
            </a:r>
            <a:r>
              <a:rPr lang="en-US" sz="1400" dirty="0"/>
              <a:t> Động </a:t>
            </a:r>
            <a:r>
              <a:rPr lang="en-US" sz="1400" dirty="0" err="1"/>
              <a:t>có</a:t>
            </a:r>
            <a:r>
              <a:rPr lang="en-US" sz="1400" dirty="0"/>
              <a:t> Cross-Validation </a:t>
            </a:r>
            <a:r>
              <a:rPr lang="en-US" sz="1400" dirty="0" err="1"/>
              <a:t>mà</a:t>
            </a:r>
            <a:r>
              <a:rPr lang="en-US" sz="1400" dirty="0"/>
              <a:t> </a:t>
            </a:r>
            <a:r>
              <a:rPr lang="en-US" sz="1400" dirty="0" err="1"/>
              <a:t>không</a:t>
            </a:r>
            <a:r>
              <a:rPr lang="en-US" sz="1400" dirty="0"/>
              <a:t> </a:t>
            </a:r>
            <a:r>
              <a:rPr lang="en-US" sz="1400" dirty="0" err="1"/>
              <a:t>cần</a:t>
            </a:r>
            <a:r>
              <a:rPr lang="en-US" sz="1400" dirty="0"/>
              <a:t> </a:t>
            </a:r>
            <a:r>
              <a:rPr lang="en-US" sz="1400" dirty="0" err="1"/>
              <a:t>tách</a:t>
            </a:r>
            <a:r>
              <a:rPr lang="en-US" sz="1400" dirty="0"/>
              <a:t> </a:t>
            </a:r>
            <a:r>
              <a:rPr lang="en-US" sz="1400" dirty="0" err="1"/>
              <a:t>tập</a:t>
            </a:r>
            <a:r>
              <a:rPr lang="en-US" sz="1400" dirty="0"/>
              <a:t> </a:t>
            </a:r>
            <a:r>
              <a:rPr lang="en-US" sz="1400" dirty="0" err="1"/>
              <a:t>riêng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 err="1"/>
              <a:t>Tiết</a:t>
            </a:r>
            <a:r>
              <a:rPr lang="en-US" sz="1400" dirty="0"/>
              <a:t> </a:t>
            </a:r>
            <a:r>
              <a:rPr lang="en-US" sz="1400" dirty="0" err="1"/>
              <a:t>kiệm</a:t>
            </a:r>
            <a:r>
              <a:rPr lang="en-US" sz="1400" dirty="0"/>
              <a:t> </a:t>
            </a:r>
            <a:r>
              <a:rPr lang="en-US" sz="1400" dirty="0" err="1"/>
              <a:t>dữ</a:t>
            </a:r>
            <a:r>
              <a:rPr lang="en-US" sz="1400" dirty="0"/>
              <a:t> </a:t>
            </a:r>
            <a:r>
              <a:rPr lang="en-US" sz="1400" dirty="0" err="1"/>
              <a:t>liệu</a:t>
            </a:r>
            <a:r>
              <a:rPr lang="en-US" sz="1400" dirty="0"/>
              <a:t> </a:t>
            </a:r>
            <a:r>
              <a:rPr lang="en-US" sz="1400" dirty="0" err="1"/>
              <a:t>cho</a:t>
            </a:r>
            <a:r>
              <a:rPr lang="en-US" sz="1400" dirty="0"/>
              <a:t> </a:t>
            </a:r>
            <a:r>
              <a:rPr lang="en-US" sz="1400" dirty="0" err="1"/>
              <a:t>huấn</a:t>
            </a:r>
            <a:r>
              <a:rPr lang="en-US" sz="1400" dirty="0"/>
              <a:t> </a:t>
            </a:r>
            <a:r>
              <a:rPr lang="en-US" sz="1400" dirty="0" err="1"/>
              <a:t>luyện</a:t>
            </a:r>
            <a:r>
              <a:rPr lang="en-US" sz="1400" dirty="0"/>
              <a:t>.</a:t>
            </a:r>
          </a:p>
          <a:p>
            <a:pPr algn="ctr"/>
            <a:endParaRPr lang="en-US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BAA714-3AC0-ED13-22A8-168097D9426A}"/>
              </a:ext>
            </a:extLst>
          </p:cNvPr>
          <p:cNvSpPr/>
          <p:nvPr/>
        </p:nvSpPr>
        <p:spPr>
          <a:xfrm>
            <a:off x="4805265" y="1679510"/>
            <a:ext cx="3974841" cy="550506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Variable Importance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FB28F1-811D-A045-B6E8-8D75C5149289}"/>
              </a:ext>
            </a:extLst>
          </p:cNvPr>
          <p:cNvSpPr/>
          <p:nvPr/>
        </p:nvSpPr>
        <p:spPr>
          <a:xfrm>
            <a:off x="4805265" y="2135378"/>
            <a:ext cx="3974841" cy="358295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400" dirty="0"/>
          </a:p>
          <a:p>
            <a:r>
              <a:rPr lang="en-US" sz="1400" dirty="0"/>
              <a:t>Feature A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Feature B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Feature 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819CDE-EA5E-5ED6-7261-CBCA477578CF}"/>
              </a:ext>
            </a:extLst>
          </p:cNvPr>
          <p:cNvSpPr/>
          <p:nvPr/>
        </p:nvSpPr>
        <p:spPr>
          <a:xfrm>
            <a:off x="5794310" y="2481943"/>
            <a:ext cx="2444621" cy="18661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FDFDF5-BC16-BAB9-B003-49A0FDFD52FB}"/>
              </a:ext>
            </a:extLst>
          </p:cNvPr>
          <p:cNvSpPr/>
          <p:nvPr/>
        </p:nvSpPr>
        <p:spPr>
          <a:xfrm>
            <a:off x="5794310" y="3031118"/>
            <a:ext cx="1772817" cy="186612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034E80-DB53-E78A-9D39-DB532BDF9786}"/>
              </a:ext>
            </a:extLst>
          </p:cNvPr>
          <p:cNvSpPr/>
          <p:nvPr/>
        </p:nvSpPr>
        <p:spPr>
          <a:xfrm>
            <a:off x="5794310" y="3768236"/>
            <a:ext cx="1268964" cy="15862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9A8319-3A04-3627-D126-FA1B86EDFD32}"/>
              </a:ext>
            </a:extLst>
          </p:cNvPr>
          <p:cNvSpPr txBox="1"/>
          <p:nvPr/>
        </p:nvSpPr>
        <p:spPr>
          <a:xfrm>
            <a:off x="8238931" y="2438690"/>
            <a:ext cx="5411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85%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2E08A1-5B7A-4458-3858-D18CA61FD247}"/>
              </a:ext>
            </a:extLst>
          </p:cNvPr>
          <p:cNvSpPr txBox="1"/>
          <p:nvPr/>
        </p:nvSpPr>
        <p:spPr>
          <a:xfrm>
            <a:off x="7725747" y="3031118"/>
            <a:ext cx="625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62%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EBB9E8-022D-9687-1325-FA3F5ABBDF98}"/>
              </a:ext>
            </a:extLst>
          </p:cNvPr>
          <p:cNvSpPr txBox="1"/>
          <p:nvPr/>
        </p:nvSpPr>
        <p:spPr>
          <a:xfrm>
            <a:off x="7287208" y="3768236"/>
            <a:ext cx="6251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45%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A91B36-1385-91C4-F0A1-EA852DE65690}"/>
              </a:ext>
            </a:extLst>
          </p:cNvPr>
          <p:cNvSpPr txBox="1"/>
          <p:nvPr/>
        </p:nvSpPr>
        <p:spPr>
          <a:xfrm>
            <a:off x="578498" y="5057192"/>
            <a:ext cx="37975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P(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bị</a:t>
            </a:r>
            <a:r>
              <a:rPr lang="en-US" sz="1600" dirty="0"/>
              <a:t> </a:t>
            </a:r>
            <a:r>
              <a:rPr lang="en-US" sz="1600" dirty="0" err="1"/>
              <a:t>bỏ</a:t>
            </a:r>
            <a:r>
              <a:rPr lang="en-US" sz="1600" dirty="0"/>
              <a:t> qua 1 </a:t>
            </a:r>
            <a:r>
              <a:rPr lang="en-US" sz="1600" dirty="0" err="1"/>
              <a:t>lần</a:t>
            </a:r>
            <a:r>
              <a:rPr lang="en-US" sz="1600" dirty="0"/>
              <a:t>)= (1-1/N)</a:t>
            </a:r>
            <a:r>
              <a:rPr lang="en-US" sz="1600" strike="sngStrike" baseline="30000" dirty="0"/>
              <a:t>N </a:t>
            </a:r>
            <a:r>
              <a:rPr lang="en-US" sz="1600" baseline="30000" dirty="0"/>
              <a:t>  </a:t>
            </a:r>
            <a:endParaRPr lang="en-US" sz="1600" strike="sngStrike" dirty="0"/>
          </a:p>
          <a:p>
            <a:r>
              <a:rPr lang="en-US" sz="1600" dirty="0"/>
              <a:t> -&gt; e</a:t>
            </a:r>
            <a:r>
              <a:rPr lang="en-US" sz="1600" baseline="30000" dirty="0"/>
              <a:t>-1</a:t>
            </a:r>
            <a:r>
              <a:rPr lang="en-US" sz="1600" dirty="0"/>
              <a:t> = 36.8%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9482B1-CCD8-1C6B-E866-20F5532F9497}"/>
              </a:ext>
            </a:extLst>
          </p:cNvPr>
          <p:cNvSpPr txBox="1"/>
          <p:nvPr/>
        </p:nvSpPr>
        <p:spPr>
          <a:xfrm>
            <a:off x="4842587" y="4624182"/>
            <a:ext cx="39001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RF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phải</a:t>
            </a:r>
            <a:r>
              <a:rPr lang="en-US" sz="1600" dirty="0"/>
              <a:t> </a:t>
            </a:r>
            <a:r>
              <a:rPr lang="en-US" sz="1600" dirty="0" err="1"/>
              <a:t>hộp</a:t>
            </a:r>
            <a:r>
              <a:rPr lang="en-US" sz="1600" dirty="0"/>
              <a:t> </a:t>
            </a:r>
            <a:r>
              <a:rPr lang="en-US" sz="1600" dirty="0" err="1"/>
              <a:t>đen</a:t>
            </a:r>
            <a:r>
              <a:rPr lang="en-US" sz="1600" dirty="0"/>
              <a:t>: </a:t>
            </a:r>
            <a:r>
              <a:rPr lang="en-US" sz="1600" dirty="0" err="1"/>
              <a:t>giải</a:t>
            </a:r>
            <a:r>
              <a:rPr lang="en-US" sz="1600" dirty="0"/>
              <a:t> </a:t>
            </a:r>
            <a:r>
              <a:rPr lang="en-US" sz="1600" dirty="0" err="1"/>
              <a:t>thích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biến</a:t>
            </a:r>
            <a:r>
              <a:rPr lang="en-US" sz="1600" dirty="0"/>
              <a:t> </a:t>
            </a:r>
            <a:r>
              <a:rPr lang="en-US" sz="1600" dirty="0" err="1"/>
              <a:t>nào</a:t>
            </a:r>
            <a:r>
              <a:rPr lang="en-US" sz="1600" dirty="0"/>
              <a:t> </a:t>
            </a:r>
            <a:r>
              <a:rPr lang="en-US" sz="1600" dirty="0" err="1"/>
              <a:t>quan</a:t>
            </a:r>
            <a:r>
              <a:rPr lang="en-US" sz="1600" dirty="0"/>
              <a:t> </a:t>
            </a:r>
            <a:r>
              <a:rPr lang="en-US" sz="1600" dirty="0" err="1"/>
              <a:t>trọng</a:t>
            </a:r>
            <a:r>
              <a:rPr lang="en-US" sz="1600" dirty="0"/>
              <a:t> </a:t>
            </a:r>
            <a:r>
              <a:rPr lang="en-US" sz="1600" dirty="0" err="1"/>
              <a:t>nhất</a:t>
            </a:r>
            <a:r>
              <a:rPr lang="en-US" sz="1600" dirty="0"/>
              <a:t> </a:t>
            </a:r>
            <a:r>
              <a:rPr lang="en-US" sz="1600" dirty="0" err="1"/>
              <a:t>bằng</a:t>
            </a:r>
            <a:r>
              <a:rPr lang="en-US" sz="1600" dirty="0"/>
              <a:t> </a:t>
            </a:r>
            <a:r>
              <a:rPr lang="en-US" sz="1600" dirty="0" err="1"/>
              <a:t>cách</a:t>
            </a:r>
            <a:r>
              <a:rPr lang="en-US" sz="1600" dirty="0"/>
              <a:t> </a:t>
            </a:r>
            <a:r>
              <a:rPr lang="en-US" sz="1600" dirty="0" err="1"/>
              <a:t>đo</a:t>
            </a:r>
            <a:r>
              <a:rPr lang="en-US" sz="1600" dirty="0"/>
              <a:t> tang </a:t>
            </a:r>
            <a:r>
              <a:rPr lang="en-US" sz="1600" dirty="0" err="1"/>
              <a:t>sai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  <a:r>
              <a:rPr lang="en-US" sz="1600" dirty="0" err="1"/>
              <a:t>khi</a:t>
            </a:r>
            <a:r>
              <a:rPr lang="en-US" sz="1600" dirty="0"/>
              <a:t> </a:t>
            </a:r>
            <a:r>
              <a:rPr lang="en-US" sz="1600" dirty="0" err="1"/>
              <a:t>hoán</a:t>
            </a:r>
            <a:r>
              <a:rPr lang="en-US" sz="1600" dirty="0"/>
              <a:t> </a:t>
            </a:r>
            <a:r>
              <a:rPr lang="en-US" sz="1600" dirty="0" err="1"/>
              <a:t>vị</a:t>
            </a:r>
            <a:r>
              <a:rPr lang="en-US" sz="1600" dirty="0"/>
              <a:t> </a:t>
            </a:r>
            <a:r>
              <a:rPr lang="en-US" sz="1600" dirty="0" err="1"/>
              <a:t>ngẫu</a:t>
            </a:r>
            <a:r>
              <a:rPr lang="en-US" sz="1600" dirty="0"/>
              <a:t> </a:t>
            </a:r>
            <a:r>
              <a:rPr lang="en-US" sz="1600" dirty="0" err="1"/>
              <a:t>nhiên</a:t>
            </a:r>
            <a:r>
              <a:rPr lang="en-US" sz="1600" dirty="0"/>
              <a:t> </a:t>
            </a:r>
            <a:r>
              <a:rPr lang="en-US" sz="1600" dirty="0" err="1"/>
              <a:t>giá</a:t>
            </a:r>
            <a:r>
              <a:rPr lang="en-US" sz="1600" dirty="0"/>
              <a:t> </a:t>
            </a:r>
            <a:r>
              <a:rPr lang="en-US" sz="1600" dirty="0" err="1"/>
              <a:t>trị</a:t>
            </a:r>
            <a:r>
              <a:rPr lang="en-US" sz="1600" dirty="0"/>
              <a:t> </a:t>
            </a:r>
            <a:r>
              <a:rPr lang="en-US" sz="1600" dirty="0" err="1"/>
              <a:t>biến</a:t>
            </a:r>
            <a:r>
              <a:rPr lang="en-US" sz="1600" dirty="0"/>
              <a:t> </a:t>
            </a:r>
            <a:r>
              <a:rPr lang="en-US" sz="1600" dirty="0" err="1"/>
              <a:t>trông</a:t>
            </a:r>
            <a:r>
              <a:rPr lang="en-US" sz="1600" dirty="0"/>
              <a:t> OOB. </a:t>
            </a:r>
          </a:p>
        </p:txBody>
      </p:sp>
    </p:spTree>
    <p:extLst>
      <p:ext uri="{BB962C8B-B14F-4D97-AF65-F5344CB8AC3E}">
        <p14:creationId xmlns:p14="http://schemas.microsoft.com/office/powerpoint/2010/main" val="71518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33533-589E-D29A-26F0-65CDF9F1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89BB2D3-FFD7-6239-01CA-71C1612B6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4A3A8AB-1B47-1C0D-1A9E-2CEA66A0877C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283511E-30F4-5E32-C0C5-3CC1A657B784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1165CC-A84F-093F-6D0A-7EAEB237D40B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02.Random Forest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227D0E-601F-C9BE-B942-C7CAC91A8471}"/>
              </a:ext>
            </a:extLst>
          </p:cNvPr>
          <p:cNvSpPr txBox="1"/>
          <p:nvPr/>
        </p:nvSpPr>
        <p:spPr>
          <a:xfrm>
            <a:off x="368106" y="1265069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2.5 </a:t>
            </a:r>
            <a:r>
              <a:rPr lang="en-US" b="1" dirty="0" err="1"/>
              <a:t>Tổng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random Forest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95327F-7C9A-4A5F-A472-CEA1CD91D11A}"/>
              </a:ext>
            </a:extLst>
          </p:cNvPr>
          <p:cNvSpPr/>
          <p:nvPr/>
        </p:nvSpPr>
        <p:spPr>
          <a:xfrm>
            <a:off x="569167" y="2048842"/>
            <a:ext cx="4002833" cy="57849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76C6DC-4DA5-B9FE-2EB5-7E261819F4F9}"/>
              </a:ext>
            </a:extLst>
          </p:cNvPr>
          <p:cNvSpPr/>
          <p:nvPr/>
        </p:nvSpPr>
        <p:spPr>
          <a:xfrm>
            <a:off x="568770" y="2609853"/>
            <a:ext cx="4002833" cy="324161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/>
              <a:t>Kháng</a:t>
            </a:r>
            <a:r>
              <a:rPr lang="en-US" dirty="0"/>
              <a:t> </a:t>
            </a:r>
            <a:r>
              <a:rPr lang="en-US" dirty="0" err="1"/>
              <a:t>nhiễu</a:t>
            </a:r>
            <a:r>
              <a:rPr lang="en-US" dirty="0"/>
              <a:t>( robust),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outliers</a:t>
            </a:r>
          </a:p>
          <a:p>
            <a:endParaRPr lang="en-US" dirty="0"/>
          </a:p>
          <a:p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Overfitting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cây</a:t>
            </a:r>
            <a:endParaRPr lang="en-US" dirty="0"/>
          </a:p>
          <a:p>
            <a:endParaRPr lang="en-US" dirty="0"/>
          </a:p>
          <a:p>
            <a:r>
              <a:rPr lang="en-US" dirty="0"/>
              <a:t>Huấn </a:t>
            </a:r>
            <a:r>
              <a:rPr lang="en-US" dirty="0" err="1"/>
              <a:t>luyện</a:t>
            </a:r>
            <a:r>
              <a:rPr lang="en-US" dirty="0"/>
              <a:t> song song-&gt; </a:t>
            </a:r>
            <a:r>
              <a:rPr lang="en-US" dirty="0" err="1"/>
              <a:t>nhanh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qua OOB-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Validation</a:t>
            </a:r>
          </a:p>
          <a:p>
            <a:endParaRPr lang="en-US" dirty="0"/>
          </a:p>
          <a:p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Feature Importance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BFB54F-559F-ED3A-A650-F01B9CE665B2}"/>
              </a:ext>
            </a:extLst>
          </p:cNvPr>
          <p:cNvSpPr/>
          <p:nvPr/>
        </p:nvSpPr>
        <p:spPr>
          <a:xfrm>
            <a:off x="4898572" y="2048841"/>
            <a:ext cx="4002833" cy="56101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6763C-065E-A3E6-80F9-DE7C9C549EC1}"/>
              </a:ext>
            </a:extLst>
          </p:cNvPr>
          <p:cNvSpPr/>
          <p:nvPr/>
        </p:nvSpPr>
        <p:spPr>
          <a:xfrm>
            <a:off x="4898572" y="2616224"/>
            <a:ext cx="4002833" cy="16319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err="1"/>
              <a:t>Tốn</a:t>
            </a:r>
            <a:r>
              <a:rPr lang="en-US" sz="1600" dirty="0"/>
              <a:t> </a:t>
            </a:r>
            <a:r>
              <a:rPr lang="en-US" sz="1600" dirty="0" err="1"/>
              <a:t>bộ</a:t>
            </a:r>
            <a:r>
              <a:rPr lang="en-US" sz="1600" dirty="0"/>
              <a:t> </a:t>
            </a:r>
            <a:r>
              <a:rPr lang="en-US" sz="1600" dirty="0" err="1"/>
              <a:t>nhớ</a:t>
            </a:r>
            <a:r>
              <a:rPr lang="en-US" sz="1600" dirty="0"/>
              <a:t>( Lưu </a:t>
            </a:r>
            <a:r>
              <a:rPr lang="en-US" sz="1600" dirty="0" err="1"/>
              <a:t>hàng</a:t>
            </a:r>
            <a:r>
              <a:rPr lang="en-US" sz="1600" dirty="0"/>
              <a:t> </a:t>
            </a:r>
            <a:r>
              <a:rPr lang="en-US" sz="1600" dirty="0" err="1"/>
              <a:t>trăm</a:t>
            </a:r>
            <a:r>
              <a:rPr lang="en-US" sz="1600" dirty="0"/>
              <a:t> </a:t>
            </a:r>
            <a:r>
              <a:rPr lang="en-US" sz="1600" dirty="0" err="1"/>
              <a:t>cây</a:t>
            </a:r>
            <a:r>
              <a:rPr lang="en-US" sz="1600" dirty="0"/>
              <a:t>)</a:t>
            </a:r>
          </a:p>
          <a:p>
            <a:endParaRPr lang="en-US" sz="1600" dirty="0"/>
          </a:p>
          <a:p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  <a:r>
              <a:rPr lang="en-US" sz="1600" dirty="0" err="1"/>
              <a:t>chậm</a:t>
            </a:r>
            <a:r>
              <a:rPr lang="en-US" sz="1600" dirty="0"/>
              <a:t> </a:t>
            </a:r>
            <a:r>
              <a:rPr lang="en-US" sz="1600" dirty="0" err="1"/>
              <a:t>hơn</a:t>
            </a:r>
            <a:r>
              <a:rPr lang="en-US" sz="1600" dirty="0"/>
              <a:t> 1 </a:t>
            </a:r>
            <a:r>
              <a:rPr lang="en-US" sz="1600" dirty="0" err="1"/>
              <a:t>cây</a:t>
            </a:r>
            <a:r>
              <a:rPr lang="en-US" sz="1600" dirty="0"/>
              <a:t> </a:t>
            </a:r>
            <a:r>
              <a:rPr lang="en-US" sz="1600" dirty="0" err="1"/>
              <a:t>đơn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 err="1"/>
              <a:t>Ít</a:t>
            </a:r>
            <a:r>
              <a:rPr lang="en-US" sz="1600" dirty="0"/>
              <a:t> </a:t>
            </a:r>
            <a:r>
              <a:rPr lang="en-US" sz="1600" dirty="0" err="1"/>
              <a:t>giải</a:t>
            </a:r>
            <a:r>
              <a:rPr lang="en-US" sz="1600" dirty="0"/>
              <a:t> </a:t>
            </a:r>
            <a:r>
              <a:rPr lang="en-US" sz="1600" dirty="0" err="1"/>
              <a:t>thích</a:t>
            </a:r>
            <a:r>
              <a:rPr lang="en-US" sz="1600" dirty="0"/>
              <a:t> </a:t>
            </a:r>
            <a:r>
              <a:rPr lang="en-US" sz="1600" dirty="0" err="1"/>
              <a:t>được</a:t>
            </a:r>
            <a:r>
              <a:rPr lang="en-US" sz="1600" dirty="0"/>
              <a:t> </a:t>
            </a:r>
            <a:r>
              <a:rPr lang="en-US" sz="1600" dirty="0" err="1"/>
              <a:t>hơn</a:t>
            </a:r>
            <a:r>
              <a:rPr lang="en-US" sz="1600" dirty="0"/>
              <a:t> Decision Tree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3DF546-9F85-0E17-2455-B3B9B22FC002}"/>
              </a:ext>
            </a:extLst>
          </p:cNvPr>
          <p:cNvSpPr/>
          <p:nvPr/>
        </p:nvSpPr>
        <p:spPr>
          <a:xfrm>
            <a:off x="4898572" y="4376057"/>
            <a:ext cx="4002833" cy="147541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>
                <a:highlight>
                  <a:srgbClr val="C0C0C0"/>
                </a:highlight>
              </a:rPr>
              <a:t>Khi </a:t>
            </a:r>
            <a:r>
              <a:rPr lang="en-US" dirty="0" err="1">
                <a:highlight>
                  <a:srgbClr val="C0C0C0"/>
                </a:highlight>
              </a:rPr>
              <a:t>nào</a:t>
            </a:r>
            <a:r>
              <a:rPr lang="en-US" dirty="0">
                <a:highlight>
                  <a:srgbClr val="C0C0C0"/>
                </a:highlight>
              </a:rPr>
              <a:t> </a:t>
            </a:r>
            <a:r>
              <a:rPr lang="en-US" dirty="0" err="1">
                <a:highlight>
                  <a:srgbClr val="C0C0C0"/>
                </a:highlight>
              </a:rPr>
              <a:t>dùng</a:t>
            </a:r>
            <a:r>
              <a:rPr lang="en-US" dirty="0">
                <a:highlight>
                  <a:srgbClr val="C0C0C0"/>
                </a:highlight>
              </a:rPr>
              <a:t> Random Forest</a:t>
            </a:r>
          </a:p>
          <a:p>
            <a:endParaRPr lang="en-US" sz="1600" dirty="0">
              <a:highlight>
                <a:srgbClr val="C0C0C0"/>
              </a:highlight>
            </a:endParaRPr>
          </a:p>
          <a:p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</a:t>
            </a:r>
            <a:r>
              <a:rPr lang="en-US" sz="1600" dirty="0" err="1"/>
              <a:t>nhiều</a:t>
            </a:r>
            <a:r>
              <a:rPr lang="en-US" sz="1600" dirty="0"/>
              <a:t> </a:t>
            </a:r>
            <a:r>
              <a:rPr lang="en-US" sz="1600" dirty="0" err="1"/>
              <a:t>chiều</a:t>
            </a:r>
            <a:r>
              <a:rPr lang="en-US" sz="1600" dirty="0"/>
              <a:t>,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kết</a:t>
            </a:r>
            <a:r>
              <a:rPr lang="en-US" sz="1600" dirty="0"/>
              <a:t> </a:t>
            </a:r>
            <a:r>
              <a:rPr lang="en-US" sz="1600" dirty="0" err="1"/>
              <a:t>quả</a:t>
            </a:r>
            <a:r>
              <a:rPr lang="en-US" sz="1600" dirty="0"/>
              <a:t> </a:t>
            </a:r>
            <a:r>
              <a:rPr lang="en-US" sz="1600" dirty="0" err="1"/>
              <a:t>nhanh</a:t>
            </a:r>
            <a:r>
              <a:rPr lang="en-US" sz="1600" dirty="0"/>
              <a:t>, </a:t>
            </a:r>
            <a:r>
              <a:rPr lang="en-US" sz="1600" dirty="0" err="1"/>
              <a:t>dữ</a:t>
            </a:r>
            <a:r>
              <a:rPr lang="en-US" sz="1600" dirty="0"/>
              <a:t> </a:t>
            </a:r>
            <a:r>
              <a:rPr lang="en-US" sz="1600" dirty="0" err="1"/>
              <a:t>liệu</a:t>
            </a:r>
            <a:r>
              <a:rPr lang="en-US" sz="1600" dirty="0"/>
              <a:t> </a:t>
            </a:r>
            <a:r>
              <a:rPr lang="en-US" sz="1600" dirty="0" err="1"/>
              <a:t>có</a:t>
            </a:r>
            <a:r>
              <a:rPr lang="en-US" sz="1600" dirty="0"/>
              <a:t> missing values, </a:t>
            </a:r>
            <a:r>
              <a:rPr lang="en-US" sz="1600" dirty="0" err="1"/>
              <a:t>muốn</a:t>
            </a:r>
            <a:r>
              <a:rPr lang="en-US" sz="1600" dirty="0"/>
              <a:t> </a:t>
            </a:r>
            <a:r>
              <a:rPr lang="en-US" sz="1600" dirty="0" err="1"/>
              <a:t>biết</a:t>
            </a:r>
            <a:r>
              <a:rPr lang="en-US" sz="1600" dirty="0"/>
              <a:t> feature </a:t>
            </a:r>
            <a:r>
              <a:rPr lang="en-US" sz="1600" dirty="0" err="1"/>
              <a:t>nào</a:t>
            </a:r>
            <a:r>
              <a:rPr lang="en-US" sz="1600" dirty="0"/>
              <a:t> </a:t>
            </a:r>
            <a:r>
              <a:rPr lang="en-US" sz="1600" dirty="0" err="1"/>
              <a:t>quan</a:t>
            </a:r>
            <a:r>
              <a:rPr lang="en-US" sz="1600" dirty="0"/>
              <a:t> </a:t>
            </a:r>
            <a:r>
              <a:rPr lang="en-US" sz="1600" dirty="0" err="1"/>
              <a:t>trọng</a:t>
            </a:r>
            <a:r>
              <a:rPr lang="en-US" sz="1600" dirty="0"/>
              <a:t> </a:t>
            </a:r>
            <a:r>
              <a:rPr lang="en-US" sz="1600" dirty="0" err="1"/>
              <a:t>nhất</a:t>
            </a:r>
            <a:r>
              <a:rPr lang="en-US" sz="1600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846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442F4-6509-A756-FBE7-043E5E8EB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4B5CA31-D0EF-68CE-54C9-B141CB7D8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FF135DA-71E8-91D4-4870-15043287A51D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0D395A-DCC1-A6CA-531F-A1048D3C4511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C3A40DA-2949-6376-C2D4-1BD038A09A2D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03.Boosting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495AF9-DA33-CC6F-7381-9A7DC30BA3AD}"/>
              </a:ext>
            </a:extLst>
          </p:cNvPr>
          <p:cNvSpPr txBox="1"/>
          <p:nvPr/>
        </p:nvSpPr>
        <p:spPr>
          <a:xfrm>
            <a:off x="368106" y="122231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3.1 : BẢN CHẤT TOÁN HỌC CỦA BOOSTING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5A3FB6-D1D7-9280-3CFB-EBE7515AD944}"/>
              </a:ext>
            </a:extLst>
          </p:cNvPr>
          <p:cNvSpPr/>
          <p:nvPr/>
        </p:nvSpPr>
        <p:spPr>
          <a:xfrm>
            <a:off x="466531" y="1591642"/>
            <a:ext cx="8154955" cy="107691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/>
              <a:t>Định </a:t>
            </a:r>
            <a:r>
              <a:rPr lang="en-US" sz="1600" b="1" dirty="0" err="1"/>
              <a:t>nghĩa</a:t>
            </a:r>
            <a:r>
              <a:rPr lang="en-US" sz="1600" b="1" dirty="0"/>
              <a:t> </a:t>
            </a:r>
            <a:r>
              <a:rPr lang="en-US" sz="1600" b="1" dirty="0" err="1"/>
              <a:t>dưới</a:t>
            </a:r>
            <a:r>
              <a:rPr lang="en-US" sz="1600" b="1" dirty="0"/>
              <a:t> </a:t>
            </a:r>
            <a:r>
              <a:rPr lang="en-US" sz="1600" b="1" dirty="0" err="1"/>
              <a:t>góc</a:t>
            </a:r>
            <a:r>
              <a:rPr lang="en-US" sz="1600" b="1" dirty="0"/>
              <a:t> </a:t>
            </a:r>
            <a:r>
              <a:rPr lang="en-US" sz="1600" b="1" dirty="0" err="1"/>
              <a:t>độ</a:t>
            </a:r>
            <a:r>
              <a:rPr lang="en-US" sz="1600" b="1" dirty="0"/>
              <a:t> PAC Learning:</a:t>
            </a:r>
            <a:br>
              <a:rPr lang="en-US" sz="1600" dirty="0"/>
            </a:br>
            <a:r>
              <a:rPr lang="en-US" sz="1600" dirty="0"/>
              <a:t>Boosting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quá</a:t>
            </a:r>
            <a:r>
              <a:rPr lang="en-US" sz="1600" dirty="0"/>
              <a:t> </a:t>
            </a:r>
            <a:r>
              <a:rPr lang="en-US" sz="1600" dirty="0" err="1"/>
              <a:t>trình</a:t>
            </a:r>
            <a:r>
              <a:rPr lang="en-US" sz="1600" dirty="0"/>
              <a:t> </a:t>
            </a:r>
            <a:r>
              <a:rPr lang="en-US" sz="1600" dirty="0" err="1"/>
              <a:t>chuyển</a:t>
            </a:r>
            <a:r>
              <a:rPr lang="en-US" sz="1600" dirty="0"/>
              <a:t> </a:t>
            </a:r>
            <a:r>
              <a:rPr lang="en-US" sz="1600" dirty="0" err="1"/>
              <a:t>đổi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i="1" dirty="0" err="1"/>
              <a:t>thuật</a:t>
            </a:r>
            <a:r>
              <a:rPr lang="en-US" sz="1600" i="1" dirty="0"/>
              <a:t> </a:t>
            </a:r>
            <a:r>
              <a:rPr lang="en-US" sz="1600" i="1" dirty="0" err="1"/>
              <a:t>toán</a:t>
            </a:r>
            <a:r>
              <a:rPr lang="en-US" sz="1600" i="1" dirty="0"/>
              <a:t> </a:t>
            </a:r>
            <a:r>
              <a:rPr lang="en-US" sz="1600" i="1" dirty="0" err="1"/>
              <a:t>học</a:t>
            </a:r>
            <a:r>
              <a:rPr lang="en-US" sz="1600" i="1" dirty="0"/>
              <a:t> </a:t>
            </a:r>
            <a:r>
              <a:rPr lang="en-US" sz="1600" i="1" dirty="0" err="1"/>
              <a:t>yếu</a:t>
            </a:r>
            <a:r>
              <a:rPr lang="en-US" sz="1600" dirty="0"/>
              <a:t> (Weak Learner –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chính</a:t>
            </a:r>
            <a:r>
              <a:rPr lang="en-US" sz="1600" dirty="0"/>
              <a:t> </a:t>
            </a:r>
            <a:r>
              <a:rPr lang="en-US" sz="1600" dirty="0" err="1"/>
              <a:t>xác</a:t>
            </a:r>
            <a:r>
              <a:rPr lang="en-US" sz="1600" dirty="0"/>
              <a:t> </a:t>
            </a:r>
            <a:r>
              <a:rPr lang="en-US" sz="1600" dirty="0" err="1"/>
              <a:t>chỉ</a:t>
            </a:r>
            <a:r>
              <a:rPr lang="en-US" sz="1600" dirty="0"/>
              <a:t>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lớn</a:t>
            </a:r>
            <a:r>
              <a:rPr lang="en-US" sz="1600" dirty="0"/>
              <a:t> </a:t>
            </a:r>
            <a:r>
              <a:rPr lang="en-US" sz="1600" dirty="0" err="1"/>
              <a:t>hơn</a:t>
            </a:r>
            <a:r>
              <a:rPr lang="en-US" sz="1600" dirty="0"/>
              <a:t> </a:t>
            </a:r>
            <a:r>
              <a:rPr lang="en-US" sz="1600" dirty="0" err="1"/>
              <a:t>mức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  <a:r>
              <a:rPr lang="en-US" sz="1600" dirty="0" err="1"/>
              <a:t>ngẫu</a:t>
            </a:r>
            <a:r>
              <a:rPr lang="en-US" sz="1600" dirty="0"/>
              <a:t> </a:t>
            </a:r>
            <a:r>
              <a:rPr lang="en-US" sz="1600" dirty="0" err="1"/>
              <a:t>nhiên</a:t>
            </a:r>
            <a:r>
              <a:rPr lang="en-US" sz="1600" dirty="0"/>
              <a:t> 50%)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i="1" dirty="0" err="1"/>
              <a:t>thuật</a:t>
            </a:r>
            <a:r>
              <a:rPr lang="en-US" sz="1600" i="1" dirty="0"/>
              <a:t> </a:t>
            </a:r>
            <a:r>
              <a:rPr lang="en-US" sz="1600" i="1" dirty="0" err="1"/>
              <a:t>toán</a:t>
            </a:r>
            <a:r>
              <a:rPr lang="en-US" sz="1600" i="1" dirty="0"/>
              <a:t> </a:t>
            </a:r>
            <a:r>
              <a:rPr lang="en-US" sz="1600" i="1" dirty="0" err="1"/>
              <a:t>học</a:t>
            </a:r>
            <a:r>
              <a:rPr lang="en-US" sz="1600" i="1" dirty="0"/>
              <a:t> </a:t>
            </a:r>
            <a:r>
              <a:rPr lang="en-US" sz="1600" i="1" dirty="0" err="1"/>
              <a:t>mạnh</a:t>
            </a:r>
            <a:r>
              <a:rPr lang="en-US" sz="1600" dirty="0"/>
              <a:t> (Strong Learner)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độ</a:t>
            </a:r>
            <a:r>
              <a:rPr lang="en-US" sz="1600" dirty="0"/>
              <a:t> </a:t>
            </a:r>
            <a:r>
              <a:rPr lang="en-US" sz="1600" dirty="0" err="1"/>
              <a:t>chính</a:t>
            </a:r>
            <a:r>
              <a:rPr lang="en-US" sz="1600" dirty="0"/>
              <a:t> </a:t>
            </a:r>
            <a:r>
              <a:rPr lang="en-US" sz="1600" dirty="0" err="1"/>
              <a:t>xác</a:t>
            </a:r>
            <a:r>
              <a:rPr lang="en-US" sz="1600" dirty="0"/>
              <a:t> </a:t>
            </a:r>
            <a:r>
              <a:rPr lang="en-US" sz="1600" dirty="0" err="1"/>
              <a:t>cao</a:t>
            </a:r>
            <a:r>
              <a:rPr lang="en-US" sz="1600" dirty="0"/>
              <a:t> </a:t>
            </a:r>
            <a:r>
              <a:rPr lang="en-US" sz="1600" dirty="0" err="1"/>
              <a:t>tùy</a:t>
            </a:r>
            <a:r>
              <a:rPr lang="en-US" sz="1600" dirty="0"/>
              <a:t> ý.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692895-BE86-856B-21D6-DA2084511E79}"/>
              </a:ext>
            </a:extLst>
          </p:cNvPr>
          <p:cNvSpPr/>
          <p:nvPr/>
        </p:nvSpPr>
        <p:spPr>
          <a:xfrm>
            <a:off x="466531" y="2668555"/>
            <a:ext cx="8154955" cy="68246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b="1" dirty="0" err="1"/>
              <a:t>Mô</a:t>
            </a:r>
            <a:r>
              <a:rPr lang="en-US" sz="1600" b="1" dirty="0"/>
              <a:t> </a:t>
            </a:r>
            <a:r>
              <a:rPr lang="en-US" sz="1600" b="1" dirty="0" err="1"/>
              <a:t>hình</a:t>
            </a:r>
            <a:r>
              <a:rPr lang="en-US" sz="1600" b="1" dirty="0"/>
              <a:t> </a:t>
            </a:r>
            <a:r>
              <a:rPr lang="en-US" sz="1600" b="1" dirty="0" err="1"/>
              <a:t>tổng</a:t>
            </a:r>
            <a:r>
              <a:rPr lang="en-US" sz="1600" b="1" dirty="0"/>
              <a:t> </a:t>
            </a:r>
            <a:r>
              <a:rPr lang="en-US" sz="1600" b="1" dirty="0" err="1"/>
              <a:t>quát</a:t>
            </a:r>
            <a:r>
              <a:rPr lang="en-US" sz="1600" b="1" dirty="0"/>
              <a:t>:</a:t>
            </a:r>
            <a:br>
              <a:rPr lang="en-US" sz="1600" dirty="0"/>
            </a:br>
            <a:r>
              <a:rPr lang="en-US" sz="1600" dirty="0" err="1"/>
              <a:t>Kết</a:t>
            </a:r>
            <a:r>
              <a:rPr lang="en-US" sz="1600" dirty="0"/>
              <a:t> </a:t>
            </a:r>
            <a:r>
              <a:rPr lang="en-US" sz="1600" dirty="0" err="1"/>
              <a:t>quả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Boosting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tổ</a:t>
            </a:r>
            <a:r>
              <a:rPr lang="en-US" sz="1600" dirty="0"/>
              <a:t> </a:t>
            </a:r>
            <a:r>
              <a:rPr lang="en-US" sz="1600" dirty="0" err="1"/>
              <a:t>hợp</a:t>
            </a:r>
            <a:r>
              <a:rPr lang="en-US" sz="1600" dirty="0"/>
              <a:t> </a:t>
            </a:r>
            <a:r>
              <a:rPr lang="en-US" sz="1600" dirty="0" err="1"/>
              <a:t>tuyến</a:t>
            </a:r>
            <a:r>
              <a:rPr lang="en-US" sz="1600" dirty="0"/>
              <a:t> </a:t>
            </a:r>
            <a:r>
              <a:rPr lang="en-US" sz="1600" dirty="0" err="1"/>
              <a:t>tính</a:t>
            </a:r>
            <a:r>
              <a:rPr lang="en-US" sz="1600" dirty="0"/>
              <a:t> (</a:t>
            </a:r>
            <a:r>
              <a:rPr lang="en-US" sz="1600" i="1" dirty="0"/>
              <a:t>Linear Combination</a:t>
            </a:r>
            <a:r>
              <a:rPr lang="en-US" sz="1600" dirty="0"/>
              <a:t>)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nhiều</a:t>
            </a:r>
            <a:r>
              <a:rPr lang="en-US" sz="1600" dirty="0"/>
              <a:t> </a:t>
            </a:r>
            <a:r>
              <a:rPr lang="en-US" sz="1600" dirty="0" err="1"/>
              <a:t>mô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</a:t>
            </a:r>
            <a:r>
              <a:rPr lang="en-US" sz="1600" dirty="0" err="1"/>
              <a:t>cơ</a:t>
            </a:r>
            <a:r>
              <a:rPr lang="en-US" sz="1600" dirty="0"/>
              <a:t> </a:t>
            </a:r>
            <a:r>
              <a:rPr lang="en-US" sz="1600" dirty="0" err="1"/>
              <a:t>sở</a:t>
            </a:r>
            <a:r>
              <a:rPr lang="en-US" sz="1600" dirty="0"/>
              <a:t>.</a:t>
            </a:r>
          </a:p>
          <a:p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84D9DF-6C79-88BE-A654-AFBEC5BCC784}"/>
                  </a:ext>
                </a:extLst>
              </p:cNvPr>
              <p:cNvSpPr/>
              <p:nvPr/>
            </p:nvSpPr>
            <p:spPr>
              <a:xfrm>
                <a:off x="466531" y="3351022"/>
                <a:ext cx="4264089" cy="2703574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400" b="1" dirty="0" err="1"/>
                  <a:t>Bộ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phân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loại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mạnh</a:t>
                </a:r>
                <a:r>
                  <a:rPr lang="en-US" sz="1400" b="1" dirty="0"/>
                  <a:t> (Strong Classifier):</a:t>
                </a:r>
              </a:p>
              <a:p>
                <a:endParaRPr lang="en-US" sz="1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sign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limLoc m:val="subSup"/>
                              <m:grow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nary>
                          <m:r>
                            <m:rPr>
                              <m:nor/>
                            </m:rPr>
                            <a:rPr lang="en-US" sz="1400"/>
                            <m:t> 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400" dirty="0"/>
              </a:p>
              <a:p>
                <a:endParaRPr lang="en-US" sz="1600" b="1" dirty="0"/>
              </a:p>
              <a:p>
                <a:r>
                  <a:rPr lang="en-US" sz="1600" b="1" dirty="0"/>
                  <a:t>Trong </a:t>
                </a:r>
                <a:r>
                  <a:rPr lang="en-US" sz="1600" b="1" dirty="0" err="1"/>
                  <a:t>đó</a:t>
                </a:r>
                <a:r>
                  <a:rPr lang="en-US" sz="1600" b="1" dirty="0"/>
                  <a:t>:</a:t>
                </a:r>
                <a:endParaRPr lang="en-US" sz="16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dirty="0"/>
                  <a:t>: </a:t>
                </a:r>
                <a:r>
                  <a:rPr lang="en-US" sz="1600" dirty="0" err="1"/>
                  <a:t>số</a:t>
                </a:r>
                <a:r>
                  <a:rPr lang="en-US" sz="1600" dirty="0"/>
                  <a:t> </a:t>
                </a:r>
                <a:r>
                  <a:rPr lang="en-US" sz="1600" dirty="0" err="1"/>
                  <a:t>vòng</a:t>
                </a:r>
                <a:r>
                  <a:rPr lang="en-US" sz="1600" dirty="0"/>
                  <a:t> </a:t>
                </a:r>
                <a:r>
                  <a:rPr lang="en-US" sz="1600" dirty="0" err="1"/>
                  <a:t>lặp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số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mô</a:t>
                </a:r>
                <a:r>
                  <a:rPr lang="en-US" sz="1600" dirty="0"/>
                  <a:t> </a:t>
                </a:r>
                <a:r>
                  <a:rPr lang="en-US" sz="1600" dirty="0" err="1"/>
                  <a:t>hình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yếu</a:t>
                </a:r>
                <a:r>
                  <a:rPr lang="en-US" sz="1600" dirty="0"/>
                  <a:t>) </a:t>
                </a:r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)∈{−1,1}</m:t>
                    </m:r>
                  </m:oMath>
                </a14:m>
                <a:r>
                  <a:rPr lang="en-US" sz="1600" dirty="0"/>
                  <a:t>: </a:t>
                </a:r>
                <a:r>
                  <a:rPr lang="en-US" sz="1600" dirty="0" err="1"/>
                  <a:t>dự</a:t>
                </a:r>
                <a:r>
                  <a:rPr lang="en-US" sz="1600" dirty="0"/>
                  <a:t> </a:t>
                </a:r>
                <a:r>
                  <a:rPr lang="en-US" sz="1600" dirty="0" err="1"/>
                  <a:t>đoán</a:t>
                </a:r>
                <a:r>
                  <a:rPr lang="en-US" sz="1600" dirty="0"/>
                  <a:t> </a:t>
                </a:r>
                <a:r>
                  <a:rPr lang="en-US" sz="1600" dirty="0" err="1"/>
                  <a:t>của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mô</a:t>
                </a:r>
                <a:r>
                  <a:rPr lang="en-US" sz="1600" dirty="0"/>
                  <a:t> </a:t>
                </a:r>
                <a:r>
                  <a:rPr lang="en-US" sz="1600" dirty="0" err="1"/>
                  <a:t>hình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yếu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thứ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6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/>
                  <a:t>: </a:t>
                </a:r>
                <a:r>
                  <a:rPr lang="en-US" sz="1600" dirty="0" err="1"/>
                  <a:t>trọng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số</a:t>
                </a:r>
                <a:r>
                  <a:rPr lang="en-US" sz="1600" dirty="0"/>
                  <a:t> (</a:t>
                </a:r>
                <a:r>
                  <a:rPr lang="en-US" sz="1600" dirty="0" err="1"/>
                  <a:t>độ</a:t>
                </a:r>
                <a:r>
                  <a:rPr lang="en-US" sz="1600" dirty="0"/>
                  <a:t> tin </a:t>
                </a:r>
                <a:r>
                  <a:rPr lang="en-US" sz="1600" dirty="0" err="1"/>
                  <a:t>cậy</a:t>
                </a:r>
                <a:r>
                  <a:rPr lang="en-US" sz="1600" dirty="0"/>
                  <a:t>) </a:t>
                </a:r>
                <a:r>
                  <a:rPr lang="en-US" sz="1600" dirty="0" err="1"/>
                  <a:t>của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mô</a:t>
                </a:r>
                <a:r>
                  <a:rPr lang="en-US" sz="1600" dirty="0"/>
                  <a:t> </a:t>
                </a:r>
                <a:r>
                  <a:rPr lang="en-US" sz="1600" dirty="0" err="1"/>
                  <a:t>hình</a:t>
                </a:r>
                <a:r>
                  <a:rPr lang="en-US" sz="1600" dirty="0"/>
                  <a:t> </a:t>
                </a:r>
                <a:r>
                  <a:rPr lang="en-US" sz="1600" dirty="0" err="1"/>
                  <a:t>thứ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6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84D9DF-6C79-88BE-A654-AFBEC5BCC7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31" y="3351022"/>
                <a:ext cx="4264089" cy="2703574"/>
              </a:xfrm>
              <a:prstGeom prst="rect">
                <a:avLst/>
              </a:prstGeom>
              <a:blipFill>
                <a:blip r:embed="rId3"/>
                <a:stretch>
                  <a:fillRect l="-713" t="-98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EB1FAB6D-354E-72B1-7FEC-84224AE8BA9F}"/>
              </a:ext>
            </a:extLst>
          </p:cNvPr>
          <p:cNvSpPr/>
          <p:nvPr/>
        </p:nvSpPr>
        <p:spPr>
          <a:xfrm>
            <a:off x="4730620" y="3351022"/>
            <a:ext cx="3890866" cy="268260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7E698E-81E1-D769-D915-278B03AF64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927" y="3535583"/>
            <a:ext cx="3621379" cy="2389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824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DF8BC-6EFB-77A8-3A63-18B2DC4F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29600B8-ACB0-1FF8-92AE-5D0E6B5694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79D9A4F-A37F-9C9B-1492-354ACE4E6D81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63B3FE3-D447-16A5-5F83-83E6BEC751F5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A2690A-9DD6-BD3F-68A9-7C24B49C34A0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03.Boosting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26B50B-C4C2-4F82-91C9-EC3B8F252E8C}"/>
              </a:ext>
            </a:extLst>
          </p:cNvPr>
          <p:cNvSpPr txBox="1"/>
          <p:nvPr/>
        </p:nvSpPr>
        <p:spPr>
          <a:xfrm>
            <a:off x="273050" y="1172736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3.2 ADABOOST – TỐI ƯU HÓA HÀM MẤT MÁT MŨ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922EC-6F9B-6D1D-FA86-062BA92D37AE}"/>
              </a:ext>
            </a:extLst>
          </p:cNvPr>
          <p:cNvSpPr txBox="1"/>
          <p:nvPr/>
        </p:nvSpPr>
        <p:spPr>
          <a:xfrm>
            <a:off x="368105" y="1542067"/>
            <a:ext cx="797346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/>
              <a:t>Mục</a:t>
            </a:r>
            <a:r>
              <a:rPr lang="en-US" sz="1400" b="1" dirty="0"/>
              <a:t> </a:t>
            </a:r>
            <a:r>
              <a:rPr lang="en-US" sz="1400" b="1" dirty="0" err="1"/>
              <a:t>tiêu</a:t>
            </a:r>
            <a:r>
              <a:rPr lang="en-US" sz="1400" b="1" dirty="0"/>
              <a:t> </a:t>
            </a:r>
            <a:r>
              <a:rPr lang="en-US" sz="1400" b="1" dirty="0" err="1"/>
              <a:t>cốt</a:t>
            </a:r>
            <a:r>
              <a:rPr lang="en-US" sz="1400" b="1" dirty="0"/>
              <a:t> </a:t>
            </a:r>
            <a:r>
              <a:rPr lang="en-US" sz="1400" b="1" dirty="0" err="1"/>
              <a:t>lõi</a:t>
            </a:r>
            <a:r>
              <a:rPr lang="en-US" sz="1400" b="1" dirty="0"/>
              <a:t>:</a:t>
            </a:r>
            <a:br>
              <a:rPr lang="en-US" sz="1400" dirty="0"/>
            </a:br>
            <a:r>
              <a:rPr lang="en-US" sz="1400" dirty="0"/>
              <a:t>AdaBoost (</a:t>
            </a:r>
            <a:r>
              <a:rPr lang="en-US" sz="1400" i="1" dirty="0"/>
              <a:t>Adaptive Boosting</a:t>
            </a:r>
            <a:r>
              <a:rPr lang="en-US" sz="1400" dirty="0"/>
              <a:t>) </a:t>
            </a:r>
            <a:r>
              <a:rPr lang="en-US" sz="1400" dirty="0" err="1"/>
              <a:t>thực</a:t>
            </a:r>
            <a:r>
              <a:rPr lang="en-US" sz="1400" dirty="0"/>
              <a:t> </a:t>
            </a:r>
            <a:r>
              <a:rPr lang="en-US" sz="1400" dirty="0" err="1"/>
              <a:t>chất</a:t>
            </a:r>
            <a:r>
              <a:rPr lang="en-US" sz="1400" dirty="0"/>
              <a:t> </a:t>
            </a:r>
            <a:r>
              <a:rPr lang="en-US" sz="1400" dirty="0" err="1"/>
              <a:t>là</a:t>
            </a:r>
            <a:r>
              <a:rPr lang="en-US" sz="1400" dirty="0"/>
              <a:t> </a:t>
            </a:r>
            <a:r>
              <a:rPr lang="en-US" sz="1400" dirty="0" err="1"/>
              <a:t>quá</a:t>
            </a:r>
            <a:r>
              <a:rPr lang="en-US" sz="1400" dirty="0"/>
              <a:t> </a:t>
            </a:r>
            <a:r>
              <a:rPr lang="en-US" sz="1400" dirty="0" err="1"/>
              <a:t>trình</a:t>
            </a:r>
            <a:r>
              <a:rPr lang="en-US" sz="1400" dirty="0"/>
              <a:t> </a:t>
            </a:r>
            <a:r>
              <a:rPr lang="en-US" sz="1400" dirty="0" err="1"/>
              <a:t>tối</a:t>
            </a:r>
            <a:r>
              <a:rPr lang="en-US" sz="1400" dirty="0"/>
              <a:t> </a:t>
            </a:r>
            <a:r>
              <a:rPr lang="en-US" sz="1400" dirty="0" err="1"/>
              <a:t>thiểu</a:t>
            </a:r>
            <a:r>
              <a:rPr lang="en-US" sz="1400" dirty="0"/>
              <a:t> </a:t>
            </a:r>
            <a:r>
              <a:rPr lang="en-US" sz="1400" dirty="0" err="1"/>
              <a:t>hóa</a:t>
            </a:r>
            <a:r>
              <a:rPr lang="en-US" sz="1400" dirty="0"/>
              <a:t> </a:t>
            </a:r>
            <a:r>
              <a:rPr lang="en-US" sz="1400" i="1" dirty="0" err="1"/>
              <a:t>hàm</a:t>
            </a:r>
            <a:r>
              <a:rPr lang="en-US" sz="1400" i="1" dirty="0"/>
              <a:t> </a:t>
            </a:r>
            <a:r>
              <a:rPr lang="en-US" sz="1400" i="1" dirty="0" err="1"/>
              <a:t>mất</a:t>
            </a:r>
            <a:r>
              <a:rPr lang="en-US" sz="1400" i="1" dirty="0"/>
              <a:t> </a:t>
            </a:r>
            <a:r>
              <a:rPr lang="en-US" sz="1400" i="1" dirty="0" err="1"/>
              <a:t>mát</a:t>
            </a:r>
            <a:r>
              <a:rPr lang="en-US" sz="1400" i="1" dirty="0"/>
              <a:t> </a:t>
            </a:r>
            <a:r>
              <a:rPr lang="en-US" sz="1400" i="1" dirty="0" err="1"/>
              <a:t>mũ</a:t>
            </a:r>
            <a:r>
              <a:rPr lang="en-US" sz="1400" dirty="0"/>
              <a:t> (</a:t>
            </a:r>
            <a:r>
              <a:rPr lang="en-US" sz="1400" i="1" dirty="0"/>
              <a:t>Exponential Loss</a:t>
            </a:r>
            <a:r>
              <a:rPr lang="en-US" sz="1400" dirty="0"/>
              <a:t>) </a:t>
            </a:r>
            <a:r>
              <a:rPr lang="en-US" sz="1400" dirty="0" err="1"/>
              <a:t>thông</a:t>
            </a:r>
            <a:r>
              <a:rPr lang="en-US" sz="1400" dirty="0"/>
              <a:t> qua </a:t>
            </a:r>
            <a:r>
              <a:rPr lang="en-US" sz="1400" dirty="0" err="1"/>
              <a:t>phương</a:t>
            </a:r>
            <a:r>
              <a:rPr lang="en-US" sz="1400" dirty="0"/>
              <a:t> </a:t>
            </a:r>
            <a:r>
              <a:rPr lang="en-US" sz="1400" dirty="0" err="1"/>
              <a:t>pháp</a:t>
            </a:r>
            <a:r>
              <a:rPr lang="en-US" sz="1400" dirty="0"/>
              <a:t> </a:t>
            </a:r>
            <a:r>
              <a:rPr lang="en-US" sz="1400" i="1" dirty="0"/>
              <a:t>Forward Stagewise Additive Modeling</a:t>
            </a:r>
            <a:r>
              <a:rPr lang="en-US" sz="14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FAD943-1C9C-E891-A058-6161587911F5}"/>
                  </a:ext>
                </a:extLst>
              </p:cNvPr>
              <p:cNvSpPr txBox="1"/>
              <p:nvPr/>
            </p:nvSpPr>
            <p:spPr>
              <a:xfrm>
                <a:off x="320578" y="2219078"/>
                <a:ext cx="7982144" cy="13701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Hàm </a:t>
                </a:r>
                <a:r>
                  <a:rPr lang="en-US" sz="1400" b="1" dirty="0" err="1"/>
                  <a:t>mất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mát</a:t>
                </a:r>
                <a:r>
                  <a:rPr lang="en-US" sz="1400" b="1" dirty="0"/>
                  <a:t>: 	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))=</m:t>
                    </m:r>
                    <m:f>
                      <m:f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grow m:val="on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exp</m:t>
                        </m:r>
                      </m:e>
                    </m:nary>
                    <m:d>
                      <m:d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sz="1600" dirty="0"/>
              </a:p>
              <a:p>
                <a:r>
                  <a:rPr lang="en-US" sz="1400" b="1" dirty="0"/>
                  <a:t>Nguyên </a:t>
                </a:r>
                <a:r>
                  <a:rPr lang="en-US" sz="1400" b="1" dirty="0" err="1"/>
                  <a:t>lý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cập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nhật</a:t>
                </a:r>
                <a:r>
                  <a:rPr lang="en-US" sz="1400" b="1" dirty="0"/>
                  <a:t>:</a:t>
                </a:r>
                <a:br>
                  <a:rPr lang="en-US" sz="1400" dirty="0"/>
                </a:br>
                <a:r>
                  <a:rPr lang="en-US" sz="1400" dirty="0"/>
                  <a:t>Thay </a:t>
                </a:r>
                <a:r>
                  <a:rPr lang="en-US" sz="1400" dirty="0" err="1"/>
                  <a:t>vì</a:t>
                </a:r>
                <a:r>
                  <a:rPr lang="en-US" sz="1400" dirty="0"/>
                  <a:t> </a:t>
                </a:r>
                <a:r>
                  <a:rPr lang="en-US" sz="1400" dirty="0" err="1"/>
                  <a:t>tối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ưu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toàn</a:t>
                </a:r>
                <a:r>
                  <a:rPr lang="en-US" sz="1400" dirty="0"/>
                  <a:t> </a:t>
                </a:r>
                <a:r>
                  <a:rPr lang="en-US" sz="1400" dirty="0" err="1"/>
                  <a:t>bộ</a:t>
                </a:r>
                <a:r>
                  <a:rPr lang="en-US" sz="1400" dirty="0"/>
                  <a:t> </a:t>
                </a:r>
                <a:r>
                  <a:rPr lang="en-US" sz="1400" dirty="0" err="1"/>
                  <a:t>mô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hình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cùng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lúc</a:t>
                </a:r>
                <a:r>
                  <a:rPr lang="en-US" sz="1400" dirty="0"/>
                  <a:t>, AdaBoost </a:t>
                </a:r>
                <a:r>
                  <a:rPr lang="en-US" sz="1400" dirty="0" err="1"/>
                  <a:t>giữ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cố</a:t>
                </a:r>
                <a:r>
                  <a:rPr lang="en-US" sz="1400" dirty="0"/>
                  <a:t> </a:t>
                </a:r>
                <a:r>
                  <a:rPr lang="en-US" sz="1400" dirty="0" err="1"/>
                  <a:t>định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các</a:t>
                </a:r>
                <a:r>
                  <a:rPr lang="en-US" sz="1400" dirty="0"/>
                  <a:t> </a:t>
                </a:r>
                <a:r>
                  <a:rPr lang="en-US" sz="1400" dirty="0" err="1"/>
                  <a:t>mô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hình</a:t>
                </a:r>
                <a:r>
                  <a:rPr lang="en-US" sz="1400" dirty="0"/>
                  <a:t> </a:t>
                </a:r>
                <a:r>
                  <a:rPr lang="en-US" sz="1400" dirty="0" err="1"/>
                  <a:t>đã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học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và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chỉ</a:t>
                </a:r>
                <a:r>
                  <a:rPr lang="en-US" sz="1400" dirty="0"/>
                  <a:t> </a:t>
                </a:r>
                <a:r>
                  <a:rPr lang="en-US" sz="1400" dirty="0" err="1"/>
                  <a:t>tìm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400" dirty="0" err="1"/>
                  <a:t>cùng</a:t>
                </a:r>
                <a:r>
                  <a:rPr lang="en-US" sz="1400" dirty="0"/>
                  <a:t> </a:t>
                </a:r>
                <a:r>
                  <a:rPr lang="en-US" sz="1400" dirty="0" err="1"/>
                  <a:t>trọng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số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400" dirty="0" err="1"/>
                  <a:t>sao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cho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sai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số</a:t>
                </a:r>
                <a:r>
                  <a:rPr lang="en-US" sz="1400" dirty="0"/>
                  <a:t> </a:t>
                </a:r>
                <a:r>
                  <a:rPr lang="en-US" sz="1400" dirty="0" err="1"/>
                  <a:t>trên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phân</a:t>
                </a:r>
                <a:r>
                  <a:rPr lang="en-US" sz="1400" dirty="0"/>
                  <a:t> </a:t>
                </a:r>
                <a:r>
                  <a:rPr lang="en-US" sz="1400" dirty="0" err="1"/>
                  <a:t>bố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dữ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liệu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hiện</a:t>
                </a:r>
                <a:r>
                  <a:rPr lang="en-US" sz="1400" dirty="0"/>
                  <a:t> </a:t>
                </a:r>
                <a:r>
                  <a:rPr lang="en-US" sz="1400" dirty="0" err="1"/>
                  <a:t>tại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là</a:t>
                </a:r>
                <a:r>
                  <a:rPr lang="en-US" sz="1400" dirty="0"/>
                  <a:t> </a:t>
                </a:r>
                <a:r>
                  <a:rPr lang="en-US" sz="1400" dirty="0" err="1"/>
                  <a:t>nhỏ</a:t>
                </a:r>
                <a:r>
                  <a:rPr lang="en-US" sz="1400" dirty="0"/>
                  <a:t> </a:t>
                </a:r>
                <a:r>
                  <a:rPr lang="en-US" sz="1400" dirty="0" err="1"/>
                  <a:t>nhất</a:t>
                </a:r>
                <a:r>
                  <a:rPr lang="en-US" sz="1400" dirty="0"/>
                  <a:t>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FAD943-1C9C-E891-A058-6161587911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78" y="2219078"/>
                <a:ext cx="7982144" cy="1370119"/>
              </a:xfrm>
              <a:prstGeom prst="rect">
                <a:avLst/>
              </a:prstGeom>
              <a:blipFill>
                <a:blip r:embed="rId3"/>
                <a:stretch>
                  <a:fillRect l="-229" t="-22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Hình ảnh 1">
            <a:extLst>
              <a:ext uri="{FF2B5EF4-FFF2-40B4-BE49-F238E27FC236}">
                <a16:creationId xmlns:a16="http://schemas.microsoft.com/office/drawing/2014/main" id="{D836C5E3-A010-95B0-6D53-9856B3245B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634" y="3429000"/>
            <a:ext cx="7982144" cy="27465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62631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F3108-0D12-641F-DFF9-E513706CE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2E7AF2E-B92D-13FF-9A24-7FBB18A62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CDFBFE4-CE21-5A44-99A6-DB2D42B87DFE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334A2D6-8F78-258A-0F2A-2F91932829B6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E2A655-610D-5116-F635-0B5B6586A367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03.Boosting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F89BC-CD7D-76C6-6E85-047ADC62F380}"/>
              </a:ext>
            </a:extLst>
          </p:cNvPr>
          <p:cNvSpPr txBox="1"/>
          <p:nvPr/>
        </p:nvSpPr>
        <p:spPr>
          <a:xfrm>
            <a:off x="368106" y="1222310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3.4 QUÁ TRÌNH HUẤN LUYỆN ADABOOST</a:t>
            </a:r>
            <a:endParaRPr lang="en-US" dirty="0"/>
          </a:p>
          <a:p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7A383C-30F2-6AE2-5CB8-9848963A56D1}"/>
                  </a:ext>
                </a:extLst>
              </p:cNvPr>
              <p:cNvSpPr txBox="1"/>
              <p:nvPr/>
            </p:nvSpPr>
            <p:spPr>
              <a:xfrm>
                <a:off x="606489" y="1576299"/>
                <a:ext cx="8309363" cy="1322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/>
                  <a:t>Khởi </a:t>
                </a:r>
                <a:r>
                  <a:rPr lang="en-US" sz="1600" b="1" dirty="0" err="1"/>
                  <a:t>tạo</a:t>
                </a:r>
                <a:r>
                  <a:rPr lang="en-US" sz="1600" b="1" dirty="0"/>
                  <a:t>:</a:t>
                </a:r>
                <a:endParaRPr lang="en-US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r>
                  <a:rPr lang="en-US" sz="1600" b="1" dirty="0"/>
                  <a:t>Với </a:t>
                </a:r>
                <a:r>
                  <a:rPr lang="en-US" sz="1600" b="1" dirty="0" err="1"/>
                  <a:t>mỗi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vòng</a:t>
                </a:r>
                <a:r>
                  <a:rPr lang="en-US" sz="1600" b="1" dirty="0"/>
                  <a:t> </a:t>
                </a:r>
                <a:r>
                  <a:rPr lang="en-US" sz="1600" b="1" dirty="0" err="1"/>
                  <a:t>lặp</a:t>
                </a:r>
                <a:r>
                  <a:rPr lang="en-US" sz="1600" b="1" dirty="0"/>
                  <a:t>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600" b="1" dirty="0"/>
                  <a:t>:</a:t>
                </a:r>
                <a:endParaRPr lang="en-US" sz="16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7A383C-30F2-6AE2-5CB8-9848963A56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89" y="1576299"/>
                <a:ext cx="8309363" cy="1322798"/>
              </a:xfrm>
              <a:prstGeom prst="rect">
                <a:avLst/>
              </a:prstGeom>
              <a:blipFill>
                <a:blip r:embed="rId3"/>
                <a:stretch>
                  <a:fillRect l="-367" t="-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CFA099-3D93-64FE-3E0D-5C8D2F30167B}"/>
                  </a:ext>
                </a:extLst>
              </p:cNvPr>
              <p:cNvSpPr txBox="1"/>
              <p:nvPr/>
            </p:nvSpPr>
            <p:spPr>
              <a:xfrm>
                <a:off x="606490" y="2733869"/>
                <a:ext cx="8309363" cy="35899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/>
                  <a:t>1. Sai </a:t>
                </a:r>
                <a:r>
                  <a:rPr lang="en-US" sz="1400" b="1" dirty="0" err="1"/>
                  <a:t>số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có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trọng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số</a:t>
                </a:r>
                <a:r>
                  <a:rPr lang="en-US" sz="1400" b="1" dirty="0"/>
                  <a:t> (Weighted Error):</a:t>
                </a: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grow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  <m:r>
                            <m:rPr>
                              <m:nor/>
                            </m:rPr>
                            <a:rPr lang="en-US" sz="1400"/>
                            <m:t>  </m:t>
                          </m:r>
                          <m:r>
                            <a:rPr lang="en-US" sz="1400" b="1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≠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))</m:t>
                          </m:r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grow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</m:den>
                      </m:f>
                    </m:oMath>
                  </m:oMathPara>
                </a14:m>
                <a:endParaRPr lang="en-US" sz="1400" dirty="0"/>
              </a:p>
              <a:p>
                <a:r>
                  <a:rPr lang="en-US" sz="1400" b="1" dirty="0"/>
                  <a:t>2. </a:t>
                </a:r>
                <a:r>
                  <a:rPr lang="en-US" sz="1400" b="1" dirty="0" err="1"/>
                  <a:t>Trọng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số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của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mô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hình</a:t>
                </a:r>
                <a:r>
                  <a:rPr lang="en-US" sz="1400" b="1" dirty="0"/>
                  <a:t>:</a:t>
                </a: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ln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400" dirty="0"/>
              </a:p>
              <a:p>
                <a:r>
                  <a:rPr lang="en-US" sz="1400" b="1" dirty="0"/>
                  <a:t>3. Cập </a:t>
                </a:r>
                <a:r>
                  <a:rPr lang="en-US" sz="1400" b="1" dirty="0" err="1"/>
                  <a:t>nhật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trọng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số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dữ</a:t>
                </a:r>
                <a:r>
                  <a:rPr lang="en-US" sz="1400" b="1" dirty="0"/>
                  <a:t> </a:t>
                </a:r>
                <a:r>
                  <a:rPr lang="en-US" sz="1400" b="1" dirty="0" err="1"/>
                  <a:t>liệu</a:t>
                </a:r>
                <a:r>
                  <a:rPr lang="en-US" sz="1400" b="1" dirty="0"/>
                  <a:t>:</a:t>
                </a: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d>
                            <m:dPr>
                              <m:sepChr m:val="+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sup>
                          </m:sSubSup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exp</m:t>
                          </m:r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400" dirty="0"/>
              </a:p>
              <a:p>
                <a:r>
                  <a:rPr lang="en-US" sz="1400" b="1" dirty="0"/>
                  <a:t>Trong </a:t>
                </a:r>
                <a:r>
                  <a:rPr lang="en-US" sz="1400" b="1" dirty="0" err="1"/>
                  <a:t>đó</a:t>
                </a:r>
                <a:r>
                  <a:rPr lang="en-US" sz="1400" b="1" dirty="0"/>
                  <a:t>:</a:t>
                </a:r>
                <a:endParaRPr lang="en-US" sz="1400" dirty="0"/>
              </a:p>
              <a:p>
                <a:pPr lvl="0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400" dirty="0"/>
                  <a:t>: </a:t>
                </a:r>
                <a:r>
                  <a:rPr lang="en-US" sz="1400" dirty="0" err="1"/>
                  <a:t>hằng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số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chuẩn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hóa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để</a:t>
                </a:r>
                <a:r>
                  <a:rPr lang="en-US" sz="1400" dirty="0"/>
                  <a:t> </a:t>
                </a:r>
                <a:r>
                  <a:rPr lang="en-US" sz="1400" dirty="0" err="1"/>
                  <a:t>đảm</a:t>
                </a:r>
                <a:r>
                  <a:rPr lang="en-US" sz="1400" dirty="0"/>
                  <a:t> </a:t>
                </a:r>
                <a:r>
                  <a:rPr lang="en-US" sz="1400" dirty="0" err="1"/>
                  <a:t>bảo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Sup>
                          <m:sSubSupPr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</m:sup>
                        </m:sSubSup>
                      </m:e>
                    </m:nary>
                    <m:r>
                      <a:rPr lang="en-US" sz="14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2CFA099-3D93-64FE-3E0D-5C8D2F301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490" y="2733869"/>
                <a:ext cx="8309363" cy="3589957"/>
              </a:xfrm>
              <a:prstGeom prst="rect">
                <a:avLst/>
              </a:prstGeom>
              <a:blipFill>
                <a:blip r:embed="rId4"/>
                <a:stretch>
                  <a:fillRect l="-220" t="-170" b="-2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8769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137C0-D4C9-CBD7-DB19-EC60A2925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8CBEA007-2374-D852-DCE6-BE2655F4A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EAD761A-F09B-098C-BF3D-EA6050DD0076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9DDB378-7EBB-4763-163A-3FC9B428BAB0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0B886C-677F-0D4A-85E4-788C12691739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03.Boosting</a:t>
            </a: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F5E7D-8531-1A11-A1AD-398DF5CACD4E}"/>
              </a:ext>
            </a:extLst>
          </p:cNvPr>
          <p:cNvSpPr txBox="1"/>
          <p:nvPr/>
        </p:nvSpPr>
        <p:spPr>
          <a:xfrm>
            <a:off x="368106" y="122231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3.5 PHÂN TÍCH BIAS &amp; VARIANCE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FDE4202-07EE-2705-59A6-139E25633345}"/>
                  </a:ext>
                </a:extLst>
              </p:cNvPr>
              <p:cNvSpPr/>
              <p:nvPr/>
            </p:nvSpPr>
            <p:spPr>
              <a:xfrm>
                <a:off x="582215" y="1688841"/>
                <a:ext cx="7978775" cy="3606122"/>
              </a:xfrm>
              <a:prstGeom prst="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b="1" dirty="0" err="1"/>
                  <a:t>Giảm</a:t>
                </a:r>
                <a:r>
                  <a:rPr lang="en-US" b="1" dirty="0"/>
                  <a:t> Bias:</a:t>
                </a:r>
                <a:br>
                  <a:rPr lang="en-US" dirty="0"/>
                </a:br>
                <a:r>
                  <a:rPr lang="en-US" dirty="0"/>
                  <a:t>AdaBoost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khả</a:t>
                </a:r>
                <a:r>
                  <a:rPr lang="en-US" dirty="0"/>
                  <a:t> </a:t>
                </a:r>
                <a:r>
                  <a:rPr lang="en-US" dirty="0" err="1"/>
                  <a:t>năng</a:t>
                </a:r>
                <a:r>
                  <a:rPr lang="en-US" dirty="0"/>
                  <a:t> </a:t>
                </a:r>
                <a:r>
                  <a:rPr lang="en-US" dirty="0" err="1"/>
                  <a:t>làm</a:t>
                </a:r>
                <a:r>
                  <a:rPr lang="en-US" dirty="0"/>
                  <a:t> </a:t>
                </a:r>
                <a:r>
                  <a:rPr lang="en-US" dirty="0" err="1"/>
                  <a:t>giảm</a:t>
                </a:r>
                <a:r>
                  <a:rPr lang="en-US" dirty="0"/>
                  <a:t> </a:t>
                </a:r>
                <a:r>
                  <a:rPr lang="en-US" dirty="0" err="1"/>
                  <a:t>sai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huấn</a:t>
                </a:r>
                <a:r>
                  <a:rPr lang="en-US" dirty="0"/>
                  <a:t> </a:t>
                </a:r>
                <a:r>
                  <a:rPr lang="en-US" dirty="0" err="1"/>
                  <a:t>luyện</a:t>
                </a:r>
                <a:r>
                  <a:rPr lang="en-US" dirty="0"/>
                  <a:t> </a:t>
                </a:r>
                <a:r>
                  <a:rPr lang="en-US" dirty="0" err="1"/>
                  <a:t>theo</a:t>
                </a:r>
                <a:r>
                  <a:rPr lang="en-US" dirty="0"/>
                  <a:t> </a:t>
                </a:r>
                <a:r>
                  <a:rPr lang="en-US" dirty="0" err="1"/>
                  <a:t>cấp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nhân</a:t>
                </a:r>
                <a:r>
                  <a:rPr lang="en-US" dirty="0"/>
                  <a:t>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vòng</a:t>
                </a:r>
                <a:r>
                  <a:rPr lang="en-US" dirty="0"/>
                  <a:t> </a:t>
                </a:r>
                <a:r>
                  <a:rPr lang="en-US" dirty="0" err="1"/>
                  <a:t>lặp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 err="1"/>
                  <a:t>tăng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b="1" dirty="0"/>
                  <a:t>Nhạy </a:t>
                </a:r>
                <a:r>
                  <a:rPr lang="en-US" b="1" dirty="0" err="1"/>
                  <a:t>với</a:t>
                </a:r>
                <a:r>
                  <a:rPr lang="en-US" b="1" dirty="0"/>
                  <a:t> </a:t>
                </a:r>
                <a:r>
                  <a:rPr lang="en-US" b="1" dirty="0" err="1"/>
                  <a:t>nhiễu</a:t>
                </a:r>
                <a:r>
                  <a:rPr lang="en-US" b="1" dirty="0"/>
                  <a:t> (Noise Sensitivity):</a:t>
                </a:r>
                <a:br>
                  <a:rPr lang="en-US" dirty="0"/>
                </a:br>
                <a:r>
                  <a:rPr lang="en-US" dirty="0"/>
                  <a:t>Do </a:t>
                </a: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dụng</a:t>
                </a:r>
                <a:r>
                  <a:rPr lang="en-US" dirty="0"/>
                  <a:t> </a:t>
                </a:r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exp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bị</a:t>
                </a:r>
                <a:r>
                  <a:rPr lang="en-US" dirty="0"/>
                  <a:t> </a:t>
                </a:r>
                <a:r>
                  <a:rPr lang="en-US" dirty="0" err="1"/>
                  <a:t>dự</a:t>
                </a:r>
                <a:r>
                  <a:rPr lang="en-US" dirty="0"/>
                  <a:t> </a:t>
                </a:r>
                <a:r>
                  <a:rPr lang="en-US" dirty="0" err="1"/>
                  <a:t>đoán</a:t>
                </a:r>
                <a:r>
                  <a:rPr lang="en-US" dirty="0"/>
                  <a:t> </a:t>
                </a:r>
                <a:r>
                  <a:rPr lang="en-US" dirty="0" err="1"/>
                  <a:t>sai</a:t>
                </a:r>
                <a:r>
                  <a:rPr lang="en-US" dirty="0"/>
                  <a:t> </a:t>
                </a:r>
                <a:r>
                  <a:rPr lang="en-US" dirty="0" err="1"/>
                  <a:t>nhiều</a:t>
                </a:r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trọng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tăng</a:t>
                </a:r>
                <a:r>
                  <a:rPr lang="en-US" dirty="0"/>
                  <a:t> </a:t>
                </a:r>
                <a:r>
                  <a:rPr lang="en-US" dirty="0" err="1"/>
                  <a:t>rất</a:t>
                </a:r>
                <a:r>
                  <a:rPr lang="en-US" dirty="0"/>
                  <a:t> </a:t>
                </a:r>
                <a:r>
                  <a:rPr lang="en-US" dirty="0" err="1"/>
                  <a:t>lớn</a:t>
                </a:r>
                <a:r>
                  <a:rPr lang="en-US" dirty="0"/>
                  <a:t>.</a:t>
                </a:r>
                <a:br>
                  <a:rPr lang="en-US" dirty="0"/>
                </a:br>
                <a:r>
                  <a:rPr lang="en-US" dirty="0"/>
                  <a:t>→ </a:t>
                </a:r>
                <a:r>
                  <a:rPr lang="en-US" dirty="0" err="1"/>
                  <a:t>Mô</a:t>
                </a:r>
                <a:r>
                  <a:rPr lang="en-US" dirty="0"/>
                  <a:t> </a:t>
                </a:r>
                <a:r>
                  <a:rPr lang="en-US" dirty="0" err="1"/>
                  <a:t>hình</a:t>
                </a:r>
                <a:r>
                  <a:rPr lang="en-US" dirty="0"/>
                  <a:t> </a:t>
                </a:r>
                <a:r>
                  <a:rPr lang="en-US" dirty="0" err="1"/>
                  <a:t>dễ</a:t>
                </a:r>
                <a:r>
                  <a:rPr lang="en-US" dirty="0"/>
                  <a:t> </a:t>
                </a:r>
                <a:r>
                  <a:rPr lang="en-US" dirty="0" err="1"/>
                  <a:t>bị</a:t>
                </a:r>
                <a:r>
                  <a:rPr lang="en-US" dirty="0"/>
                  <a:t> </a:t>
                </a:r>
                <a:r>
                  <a:rPr lang="en-US" dirty="0" err="1"/>
                  <a:t>ảnh</a:t>
                </a:r>
                <a:r>
                  <a:rPr lang="en-US" dirty="0"/>
                  <a:t> </a:t>
                </a:r>
                <a:r>
                  <a:rPr lang="en-US" dirty="0" err="1"/>
                  <a:t>hưởng</a:t>
                </a:r>
                <a:r>
                  <a:rPr lang="en-US" dirty="0"/>
                  <a:t> </a:t>
                </a:r>
                <a:r>
                  <a:rPr lang="en-US" dirty="0" err="1"/>
                  <a:t>bởi</a:t>
                </a:r>
                <a:r>
                  <a:rPr lang="en-US" dirty="0"/>
                  <a:t> </a:t>
                </a:r>
                <a:r>
                  <a:rPr lang="en-US" i="1" dirty="0"/>
                  <a:t>outliers</a:t>
                </a:r>
                <a:r>
                  <a:rPr lang="en-US" dirty="0"/>
                  <a:t> → </a:t>
                </a:r>
                <a:r>
                  <a:rPr lang="en-US" dirty="0" err="1"/>
                  <a:t>dẫn</a:t>
                </a:r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:r>
                  <a:rPr lang="en-US" i="1" dirty="0"/>
                  <a:t>overfitting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b="1" dirty="0" err="1"/>
                  <a:t>Hướng</a:t>
                </a:r>
                <a:r>
                  <a:rPr lang="en-US" b="1" dirty="0"/>
                  <a:t> </a:t>
                </a:r>
                <a:r>
                  <a:rPr lang="en-US" b="1" dirty="0" err="1"/>
                  <a:t>phát</a:t>
                </a:r>
                <a:r>
                  <a:rPr lang="en-US" b="1" dirty="0"/>
                  <a:t> </a:t>
                </a:r>
                <a:r>
                  <a:rPr lang="en-US" b="1" dirty="0" err="1"/>
                  <a:t>triển</a:t>
                </a:r>
                <a:r>
                  <a:rPr lang="en-US" b="1" dirty="0"/>
                  <a:t>:</a:t>
                </a:r>
                <a:br>
                  <a:rPr lang="en-US" dirty="0"/>
                </a:b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khắc</a:t>
                </a:r>
                <a:r>
                  <a:rPr lang="en-US" dirty="0"/>
                  <a:t> </a:t>
                </a:r>
                <a:r>
                  <a:rPr lang="en-US" dirty="0" err="1"/>
                  <a:t>phục</a:t>
                </a:r>
                <a:r>
                  <a:rPr lang="en-US" dirty="0"/>
                  <a:t> </a:t>
                </a:r>
                <a:r>
                  <a:rPr lang="en-US" dirty="0" err="1"/>
                  <a:t>nhược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này</a:t>
                </a:r>
                <a:r>
                  <a:rPr lang="en-US" dirty="0"/>
                  <a:t>, Boosting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mở</a:t>
                </a:r>
                <a:r>
                  <a:rPr lang="en-US" dirty="0"/>
                  <a:t> </a:t>
                </a:r>
                <a:r>
                  <a:rPr lang="en-US" dirty="0" err="1"/>
                  <a:t>rộng</a:t>
                </a:r>
                <a:r>
                  <a:rPr lang="en-US" dirty="0"/>
                  <a:t> sang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hàm</a:t>
                </a:r>
                <a:r>
                  <a:rPr lang="en-US" dirty="0"/>
                  <a:t> </a:t>
                </a:r>
                <a:r>
                  <a:rPr lang="en-US" dirty="0" err="1"/>
                  <a:t>mất</a:t>
                </a:r>
                <a:r>
                  <a:rPr lang="en-US" dirty="0"/>
                  <a:t> </a:t>
                </a:r>
                <a:r>
                  <a:rPr lang="en-US" dirty="0" err="1"/>
                  <a:t>mát</a:t>
                </a:r>
                <a:r>
                  <a:rPr lang="en-US" dirty="0"/>
                  <a:t> </a:t>
                </a:r>
                <a:r>
                  <a:rPr lang="en-US" dirty="0" err="1"/>
                  <a:t>khả</a:t>
                </a:r>
                <a:r>
                  <a:rPr lang="en-US" dirty="0"/>
                  <a:t> vi </a:t>
                </a:r>
                <a:r>
                  <a:rPr lang="en-US" dirty="0" err="1"/>
                  <a:t>khác</a:t>
                </a:r>
                <a:r>
                  <a:rPr lang="en-US" dirty="0"/>
                  <a:t> → </a:t>
                </a:r>
                <a:r>
                  <a:rPr lang="en-US" dirty="0" err="1"/>
                  <a:t>hình</a:t>
                </a:r>
                <a:r>
                  <a:rPr lang="en-US" dirty="0"/>
                  <a:t> </a:t>
                </a:r>
                <a:r>
                  <a:rPr lang="en-US" dirty="0" err="1"/>
                  <a:t>thành</a:t>
                </a:r>
                <a:r>
                  <a:rPr lang="en-US" dirty="0"/>
                  <a:t> </a:t>
                </a:r>
                <a:r>
                  <a:rPr lang="en-US" b="1" dirty="0"/>
                  <a:t>Gradient Boosting</a:t>
                </a:r>
                <a:r>
                  <a:rPr lang="en-US" dirty="0"/>
                  <a:t>.</a:t>
                </a:r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FDE4202-07EE-2705-59A6-139E256333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215" y="1688841"/>
                <a:ext cx="7978775" cy="3606122"/>
              </a:xfrm>
              <a:prstGeom prst="rect">
                <a:avLst/>
              </a:prstGeom>
              <a:blipFill>
                <a:blip r:embed="rId3"/>
                <a:stretch>
                  <a:fillRect l="-611" t="-1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6520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7AEA2-096F-3954-A989-DF2F18B87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69AB04D8-86F8-B285-8AA0-DCD156A6E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92EF420-F0E5-36AC-726F-A118C27B5AB7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00DD161-6888-40D6-32CE-17D77E46C072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5B77D6-1243-7931-453A-714A7E53C3F9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04.</a:t>
            </a:r>
            <a:r>
              <a:rPr lang="en-US" b="1" dirty="0"/>
              <a:t> Gradient boosting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C922AF-B31E-46A0-4399-5D80BA3B844C}"/>
              </a:ext>
            </a:extLst>
          </p:cNvPr>
          <p:cNvSpPr txBox="1"/>
          <p:nvPr/>
        </p:nvSpPr>
        <p:spPr>
          <a:xfrm>
            <a:off x="368106" y="122231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4.1 Ý </a:t>
            </a:r>
            <a:r>
              <a:rPr lang="en-US" b="1" dirty="0" err="1"/>
              <a:t>tưởng</a:t>
            </a:r>
            <a:r>
              <a:rPr lang="en-US" b="1" dirty="0"/>
              <a:t> </a:t>
            </a:r>
            <a:r>
              <a:rPr lang="en-US" b="1" dirty="0" err="1"/>
              <a:t>cốt</a:t>
            </a:r>
            <a:r>
              <a:rPr lang="en-US" b="1" dirty="0"/>
              <a:t> </a:t>
            </a:r>
            <a:r>
              <a:rPr lang="en-US" b="1" dirty="0" err="1"/>
              <a:t>lõi</a:t>
            </a:r>
            <a:r>
              <a:rPr lang="en-US" b="1" dirty="0"/>
              <a:t>- Gradient boosting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A4BFB8-DADB-2B5B-58C0-F398A42DB1E8}"/>
              </a:ext>
            </a:extLst>
          </p:cNvPr>
          <p:cNvSpPr txBox="1"/>
          <p:nvPr/>
        </p:nvSpPr>
        <p:spPr>
          <a:xfrm>
            <a:off x="587828" y="1553782"/>
            <a:ext cx="8266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Thay </a:t>
            </a:r>
            <a:r>
              <a:rPr lang="en-US" sz="1600" i="1" dirty="0" err="1"/>
              <a:t>vì</a:t>
            </a:r>
            <a:r>
              <a:rPr lang="en-US" sz="1600" i="1" dirty="0"/>
              <a:t>  </a:t>
            </a:r>
            <a:r>
              <a:rPr lang="en-US" sz="1600" i="1" dirty="0" err="1"/>
              <a:t>dẫn</a:t>
            </a:r>
            <a:r>
              <a:rPr lang="en-US" sz="1600" i="1" dirty="0"/>
              <a:t> </a:t>
            </a:r>
            <a:r>
              <a:rPr lang="en-US" sz="1600" i="1" dirty="0" err="1"/>
              <a:t>xuất</a:t>
            </a:r>
            <a:r>
              <a:rPr lang="en-US" sz="1600" i="1" dirty="0"/>
              <a:t> </a:t>
            </a:r>
            <a:r>
              <a:rPr lang="en-US" sz="1600" i="1" dirty="0" err="1"/>
              <a:t>riêng</a:t>
            </a:r>
            <a:r>
              <a:rPr lang="en-US" sz="1600" i="1" dirty="0"/>
              <a:t> </a:t>
            </a:r>
            <a:r>
              <a:rPr lang="en-US" sz="1600" i="1" dirty="0" err="1"/>
              <a:t>cho</a:t>
            </a:r>
            <a:r>
              <a:rPr lang="en-US" sz="1600" i="1" dirty="0"/>
              <a:t> </a:t>
            </a:r>
            <a:r>
              <a:rPr lang="en-US" sz="1600" i="1" dirty="0" err="1"/>
              <a:t>từng</a:t>
            </a:r>
            <a:r>
              <a:rPr lang="en-US" sz="1600" i="1" dirty="0"/>
              <a:t> </a:t>
            </a:r>
            <a:r>
              <a:rPr lang="en-US" sz="1600" i="1" dirty="0" err="1"/>
              <a:t>hàm</a:t>
            </a:r>
            <a:r>
              <a:rPr lang="en-US" sz="1600" i="1" dirty="0"/>
              <a:t> </a:t>
            </a:r>
            <a:r>
              <a:rPr lang="en-US" sz="1600" i="1" dirty="0" err="1"/>
              <a:t>mất</a:t>
            </a:r>
            <a:r>
              <a:rPr lang="en-US" sz="1600" i="1" dirty="0"/>
              <a:t> </a:t>
            </a:r>
            <a:r>
              <a:rPr lang="en-US" sz="1600" i="1" dirty="0" err="1"/>
              <a:t>mát</a:t>
            </a:r>
            <a:r>
              <a:rPr lang="en-US" sz="1600" i="1" dirty="0"/>
              <a:t>, </a:t>
            </a:r>
            <a:r>
              <a:rPr lang="en-US" sz="1600" b="1" i="1" dirty="0"/>
              <a:t>Gradient boosting  </a:t>
            </a:r>
            <a:r>
              <a:rPr lang="en-US" sz="1600" i="1" dirty="0" err="1"/>
              <a:t>tổng</a:t>
            </a:r>
            <a:r>
              <a:rPr lang="en-US" sz="1600" i="1" dirty="0"/>
              <a:t> </a:t>
            </a:r>
            <a:r>
              <a:rPr lang="en-US" sz="1600" i="1" dirty="0" err="1"/>
              <a:t>quát</a:t>
            </a:r>
            <a:r>
              <a:rPr lang="en-US" sz="1600" i="1" dirty="0"/>
              <a:t> </a:t>
            </a:r>
            <a:r>
              <a:rPr lang="en-US" sz="1600" i="1" dirty="0" err="1"/>
              <a:t>hoá</a:t>
            </a:r>
            <a:r>
              <a:rPr lang="en-US" sz="1600" i="1" dirty="0"/>
              <a:t> </a:t>
            </a:r>
            <a:r>
              <a:rPr lang="en-US" sz="1600" i="1" dirty="0" err="1"/>
              <a:t>bằng</a:t>
            </a:r>
            <a:r>
              <a:rPr lang="en-US" sz="1600" i="1" dirty="0"/>
              <a:t> </a:t>
            </a:r>
            <a:r>
              <a:rPr lang="en-US" sz="1600" i="1" dirty="0" err="1"/>
              <a:t>cách</a:t>
            </a:r>
            <a:r>
              <a:rPr lang="en-US" sz="1600" i="1" dirty="0"/>
              <a:t> </a:t>
            </a:r>
            <a:r>
              <a:rPr lang="en-US" sz="1600" i="1" dirty="0" err="1"/>
              <a:t>xem</a:t>
            </a:r>
            <a:r>
              <a:rPr lang="en-US" sz="1600" i="1" dirty="0"/>
              <a:t> boosting </a:t>
            </a:r>
            <a:r>
              <a:rPr lang="en-US" sz="1600" i="1" dirty="0" err="1"/>
              <a:t>là</a:t>
            </a:r>
            <a:r>
              <a:rPr lang="en-US" sz="1600" i="1" dirty="0"/>
              <a:t> </a:t>
            </a:r>
            <a:r>
              <a:rPr lang="en-US" sz="1600" i="1" dirty="0" err="1"/>
              <a:t>bài</a:t>
            </a:r>
            <a:r>
              <a:rPr lang="en-US" sz="1600" i="1" dirty="0"/>
              <a:t> </a:t>
            </a:r>
            <a:r>
              <a:rPr lang="en-US" sz="1600" i="1" dirty="0" err="1"/>
              <a:t>toán</a:t>
            </a:r>
            <a:r>
              <a:rPr lang="en-US" sz="1600" i="1" dirty="0"/>
              <a:t> Gradient boosting </a:t>
            </a:r>
            <a:r>
              <a:rPr lang="en-US" sz="1600" i="1" dirty="0" err="1"/>
              <a:t>trên</a:t>
            </a:r>
            <a:r>
              <a:rPr lang="en-US" sz="1600" i="1" dirty="0"/>
              <a:t> </a:t>
            </a:r>
            <a:r>
              <a:rPr lang="en-US" sz="1600" i="1" dirty="0" err="1"/>
              <a:t>không</a:t>
            </a:r>
            <a:r>
              <a:rPr lang="en-US" sz="1600" i="1" dirty="0"/>
              <a:t> </a:t>
            </a:r>
            <a:r>
              <a:rPr lang="en-US" sz="1600" i="1" dirty="0" err="1"/>
              <a:t>gian</a:t>
            </a:r>
            <a:r>
              <a:rPr lang="en-US" sz="1600" i="1" dirty="0"/>
              <a:t> </a:t>
            </a:r>
            <a:r>
              <a:rPr lang="en-US" sz="1600" i="1" dirty="0" err="1"/>
              <a:t>hàm</a:t>
            </a:r>
            <a:endParaRPr lang="en-US" sz="1600" i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6A54CA-9B1C-1862-4710-B8C2C39B4762}"/>
              </a:ext>
            </a:extLst>
          </p:cNvPr>
          <p:cNvSpPr/>
          <p:nvPr/>
        </p:nvSpPr>
        <p:spPr>
          <a:xfrm>
            <a:off x="578499" y="2174033"/>
            <a:ext cx="3900196" cy="5598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Gradient Descent </a:t>
            </a:r>
            <a:r>
              <a:rPr lang="en-US" b="1" dirty="0" err="1"/>
              <a:t>thông</a:t>
            </a:r>
            <a:r>
              <a:rPr lang="en-US" b="1" dirty="0"/>
              <a:t> </a:t>
            </a:r>
            <a:r>
              <a:rPr lang="en-US" b="1" dirty="0" err="1"/>
              <a:t>thường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3C3236-678D-806A-87FC-61A248C31EFB}"/>
              </a:ext>
            </a:extLst>
          </p:cNvPr>
          <p:cNvSpPr/>
          <p:nvPr/>
        </p:nvSpPr>
        <p:spPr>
          <a:xfrm>
            <a:off x="578499" y="2720948"/>
            <a:ext cx="3890867" cy="27528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600" dirty="0"/>
          </a:p>
          <a:p>
            <a:r>
              <a:rPr lang="en-US" sz="1600" dirty="0" err="1"/>
              <a:t>Tối</a:t>
            </a:r>
            <a:r>
              <a:rPr lang="en-US" sz="1600" dirty="0"/>
              <a:t> </a:t>
            </a:r>
            <a:r>
              <a:rPr lang="en-US" sz="1600" dirty="0" err="1"/>
              <a:t>ưu</a:t>
            </a:r>
            <a:r>
              <a:rPr lang="en-US" sz="1600" dirty="0"/>
              <a:t> </a:t>
            </a:r>
            <a:r>
              <a:rPr lang="en-US" sz="1600" dirty="0" err="1"/>
              <a:t>hoá</a:t>
            </a:r>
            <a:r>
              <a:rPr lang="en-US" sz="1600" dirty="0"/>
              <a:t> </a:t>
            </a:r>
            <a:r>
              <a:rPr lang="en-US" sz="1600" dirty="0" err="1"/>
              <a:t>tham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Ɵ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gian</a:t>
            </a:r>
            <a:r>
              <a:rPr lang="en-US" sz="1600" dirty="0"/>
              <a:t> </a:t>
            </a:r>
            <a:r>
              <a:rPr lang="en-US" sz="1600" dirty="0" err="1"/>
              <a:t>tham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endParaRPr lang="en-US" sz="1600" dirty="0"/>
          </a:p>
          <a:p>
            <a:endParaRPr lang="en-US" sz="1600" dirty="0"/>
          </a:p>
          <a:p>
            <a:r>
              <a:rPr lang="el-GR" sz="1600" dirty="0"/>
              <a:t>θ ← θ - η · ∇L(θ)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Cập </a:t>
            </a:r>
            <a:r>
              <a:rPr lang="en-US" sz="1600" dirty="0" err="1"/>
              <a:t>nhật</a:t>
            </a:r>
            <a:r>
              <a:rPr lang="en-US" sz="1600" dirty="0"/>
              <a:t> </a:t>
            </a:r>
            <a:r>
              <a:rPr lang="en-US" sz="1600" dirty="0" err="1"/>
              <a:t>trên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vector </a:t>
            </a:r>
            <a:r>
              <a:rPr lang="en-US" sz="1600" dirty="0" err="1"/>
              <a:t>tham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  <a:r>
              <a:rPr lang="en-US" sz="1600" dirty="0" err="1"/>
              <a:t>cố</a:t>
            </a:r>
            <a:r>
              <a:rPr lang="en-US" sz="1600" dirty="0"/>
              <a:t> </a:t>
            </a:r>
            <a:r>
              <a:rPr lang="en-US" sz="1600" dirty="0" err="1"/>
              <a:t>định</a:t>
            </a:r>
            <a:endParaRPr lang="en-US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2573D3-770C-A515-C19E-042A5AD015D5}"/>
              </a:ext>
            </a:extLst>
          </p:cNvPr>
          <p:cNvSpPr/>
          <p:nvPr/>
        </p:nvSpPr>
        <p:spPr>
          <a:xfrm>
            <a:off x="4721289" y="2174033"/>
            <a:ext cx="4058817" cy="584775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/>
              <a:t>Gradient boosting</a:t>
            </a: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0B4DE7-9C39-E996-8826-EDB6DE54405A}"/>
              </a:ext>
            </a:extLst>
          </p:cNvPr>
          <p:cNvSpPr/>
          <p:nvPr/>
        </p:nvSpPr>
        <p:spPr>
          <a:xfrm>
            <a:off x="4721289" y="2758808"/>
            <a:ext cx="4058817" cy="26780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endParaRPr lang="en-US" sz="1600" dirty="0"/>
          </a:p>
          <a:p>
            <a:r>
              <a:rPr lang="en-US" sz="1600" dirty="0" err="1"/>
              <a:t>Tối</a:t>
            </a:r>
            <a:r>
              <a:rPr lang="en-US" sz="1600" dirty="0"/>
              <a:t> </a:t>
            </a:r>
            <a:r>
              <a:rPr lang="en-US" sz="1600" dirty="0" err="1"/>
              <a:t>ưu</a:t>
            </a:r>
            <a:r>
              <a:rPr lang="en-US" sz="1600" dirty="0"/>
              <a:t> </a:t>
            </a:r>
            <a:r>
              <a:rPr lang="en-US" sz="1600" dirty="0" err="1"/>
              <a:t>hoá</a:t>
            </a:r>
            <a:r>
              <a:rPr lang="en-US" sz="1600" dirty="0"/>
              <a:t> </a:t>
            </a:r>
            <a:r>
              <a:rPr lang="en-US" sz="1600" dirty="0" err="1"/>
              <a:t>hàm</a:t>
            </a:r>
            <a:r>
              <a:rPr lang="en-US" sz="1600" dirty="0"/>
              <a:t> f(x)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gian</a:t>
            </a:r>
            <a:r>
              <a:rPr lang="en-US" sz="1600" dirty="0"/>
              <a:t> </a:t>
            </a:r>
            <a:r>
              <a:rPr lang="en-US" sz="1600" dirty="0" err="1"/>
              <a:t>hàm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f(x) ← f(x) - </a:t>
            </a:r>
            <a:r>
              <a:rPr lang="el-GR" sz="1600" dirty="0"/>
              <a:t>ρ · </a:t>
            </a:r>
            <a:r>
              <a:rPr lang="en-US" sz="1600" dirty="0"/>
              <a:t>g(x) , g= gradient </a:t>
            </a:r>
            <a:r>
              <a:rPr lang="en-US" sz="1600" dirty="0" err="1"/>
              <a:t>của</a:t>
            </a:r>
            <a:r>
              <a:rPr lang="en-US" sz="1600" dirty="0"/>
              <a:t> L</a:t>
            </a:r>
          </a:p>
          <a:p>
            <a:endParaRPr lang="en-US" sz="1600" dirty="0"/>
          </a:p>
          <a:p>
            <a:r>
              <a:rPr lang="en-US" sz="1600" dirty="0" err="1"/>
              <a:t>Dùng</a:t>
            </a:r>
            <a:r>
              <a:rPr lang="en-US" sz="1600" dirty="0"/>
              <a:t> weak learner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sấp</a:t>
            </a:r>
            <a:r>
              <a:rPr lang="en-US" sz="1600" dirty="0"/>
              <a:t> </a:t>
            </a:r>
            <a:r>
              <a:rPr lang="en-US" sz="1600" dirty="0" err="1"/>
              <a:t>xỉ</a:t>
            </a:r>
            <a:r>
              <a:rPr lang="en-US" sz="1600" dirty="0"/>
              <a:t> gradient </a:t>
            </a:r>
            <a:r>
              <a:rPr lang="en-US" sz="1600" dirty="0" err="1"/>
              <a:t>âm</a:t>
            </a: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AB8CBE-AF98-5A22-C1C4-774744FB9C18}"/>
              </a:ext>
            </a:extLst>
          </p:cNvPr>
          <p:cNvSpPr txBox="1"/>
          <p:nvPr/>
        </p:nvSpPr>
        <p:spPr>
          <a:xfrm>
            <a:off x="718457" y="5701004"/>
            <a:ext cx="80616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 err="1"/>
              <a:t>Ưu</a:t>
            </a:r>
            <a:r>
              <a:rPr lang="en-US" sz="1600" i="1" dirty="0"/>
              <a:t> </a:t>
            </a:r>
            <a:r>
              <a:rPr lang="en-US" sz="1600" i="1" dirty="0" err="1"/>
              <a:t>điểm</a:t>
            </a:r>
            <a:r>
              <a:rPr lang="en-US" sz="1600" i="1" dirty="0"/>
              <a:t>: </a:t>
            </a:r>
            <a:r>
              <a:rPr lang="en-US" sz="1600" i="1" dirty="0" err="1"/>
              <a:t>không</a:t>
            </a:r>
            <a:r>
              <a:rPr lang="en-US" sz="1600" i="1" dirty="0"/>
              <a:t> </a:t>
            </a:r>
            <a:r>
              <a:rPr lang="en-US" sz="1600" i="1" dirty="0" err="1"/>
              <a:t>cần</a:t>
            </a:r>
            <a:r>
              <a:rPr lang="en-US" sz="1600" i="1" dirty="0"/>
              <a:t> </a:t>
            </a:r>
            <a:r>
              <a:rPr lang="en-US" sz="1600" i="1" dirty="0" err="1"/>
              <a:t>tính</a:t>
            </a:r>
            <a:r>
              <a:rPr lang="en-US" sz="1600" i="1" dirty="0"/>
              <a:t> </a:t>
            </a:r>
            <a:r>
              <a:rPr lang="en-US" sz="1600" i="1" dirty="0" err="1"/>
              <a:t>riêng</a:t>
            </a:r>
            <a:r>
              <a:rPr lang="en-US" sz="1600" i="1" dirty="0"/>
              <a:t> </a:t>
            </a:r>
            <a:r>
              <a:rPr lang="en-US" sz="1600" i="1" dirty="0" err="1"/>
              <a:t>từng</a:t>
            </a:r>
            <a:r>
              <a:rPr lang="en-US" sz="1600" i="1" dirty="0"/>
              <a:t> </a:t>
            </a:r>
            <a:r>
              <a:rPr lang="en-US" sz="1600" i="1" dirty="0" err="1"/>
              <a:t>hàm</a:t>
            </a:r>
            <a:r>
              <a:rPr lang="en-US" sz="1600" i="1" dirty="0"/>
              <a:t> loss function- </a:t>
            </a:r>
            <a:r>
              <a:rPr lang="en-US" sz="1600" i="1" dirty="0" err="1"/>
              <a:t>chỉ</a:t>
            </a:r>
            <a:r>
              <a:rPr lang="en-US" sz="1600" i="1" dirty="0"/>
              <a:t> </a:t>
            </a:r>
            <a:r>
              <a:rPr lang="en-US" sz="1600" i="1" dirty="0" err="1"/>
              <a:t>cần</a:t>
            </a:r>
            <a:r>
              <a:rPr lang="en-US" sz="1600" i="1" dirty="0"/>
              <a:t> loss </a:t>
            </a:r>
            <a:r>
              <a:rPr lang="en-US" sz="1600" i="1" dirty="0" err="1"/>
              <a:t>khả</a:t>
            </a:r>
            <a:r>
              <a:rPr lang="en-US" sz="1600" i="1" dirty="0"/>
              <a:t> vi </a:t>
            </a:r>
            <a:r>
              <a:rPr lang="en-US" sz="1600" i="1" dirty="0" err="1"/>
              <a:t>là</a:t>
            </a:r>
            <a:r>
              <a:rPr lang="en-US" sz="1600" i="1" dirty="0"/>
              <a:t> </a:t>
            </a:r>
            <a:r>
              <a:rPr lang="en-US" sz="1600" i="1" dirty="0" err="1"/>
              <a:t>áp</a:t>
            </a:r>
            <a:r>
              <a:rPr lang="en-US" sz="1600" i="1" dirty="0"/>
              <a:t> </a:t>
            </a:r>
            <a:r>
              <a:rPr lang="en-US" sz="1600" i="1" dirty="0" err="1"/>
              <a:t>dụng</a:t>
            </a:r>
            <a:r>
              <a:rPr lang="en-US" sz="1600" i="1" dirty="0"/>
              <a:t> </a:t>
            </a:r>
            <a:r>
              <a:rPr lang="en-US" sz="1600" i="1" dirty="0" err="1"/>
              <a:t>được</a:t>
            </a: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2386891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02A5F-A031-70F6-E422-15970AB31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892F9B5-6D97-2792-B593-ABFFD878A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193A76D-0E35-C741-5D41-3388632213EB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988CED5-14AF-1695-2904-912BA36AB7AC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3F07AE-5A59-789B-60E7-C1674A3E4752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04.</a:t>
            </a:r>
            <a:r>
              <a:rPr lang="en-US" b="1" dirty="0"/>
              <a:t> Gradient boosting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FC2FA6-C1A3-B4CA-C85C-B2B6BE5F8084}"/>
              </a:ext>
            </a:extLst>
          </p:cNvPr>
          <p:cNvSpPr txBox="1"/>
          <p:nvPr/>
        </p:nvSpPr>
        <p:spPr>
          <a:xfrm>
            <a:off x="273050" y="1265069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4.2 </a:t>
            </a:r>
            <a:r>
              <a:rPr lang="en-US" b="1" dirty="0" err="1"/>
              <a:t>Thuật</a:t>
            </a:r>
            <a:r>
              <a:rPr lang="en-US" b="1" dirty="0"/>
              <a:t> </a:t>
            </a:r>
            <a:r>
              <a:rPr lang="en-US" b="1" dirty="0" err="1"/>
              <a:t>toán</a:t>
            </a:r>
            <a:r>
              <a:rPr lang="en-US" b="1" dirty="0"/>
              <a:t> Gradient boosting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9857DD-8152-3AB9-2355-11D9BC301308}"/>
              </a:ext>
            </a:extLst>
          </p:cNvPr>
          <p:cNvSpPr/>
          <p:nvPr/>
        </p:nvSpPr>
        <p:spPr>
          <a:xfrm>
            <a:off x="321768" y="1968759"/>
            <a:ext cx="4233636" cy="429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01.Khởi </a:t>
            </a:r>
            <a:r>
              <a:rPr lang="en-US" sz="1600" dirty="0" err="1"/>
              <a:t>tạo</a:t>
            </a:r>
            <a:endParaRPr lang="en-US" sz="16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93EEE7-7047-245F-CBA3-ED6D97EFAAB0}"/>
              </a:ext>
            </a:extLst>
          </p:cNvPr>
          <p:cNvSpPr/>
          <p:nvPr/>
        </p:nvSpPr>
        <p:spPr>
          <a:xfrm>
            <a:off x="4775208" y="1968759"/>
            <a:ext cx="3872204" cy="42920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03. </a:t>
            </a:r>
            <a:r>
              <a:rPr lang="en-US" sz="1600" dirty="0" err="1"/>
              <a:t>Tính</a:t>
            </a:r>
            <a:r>
              <a:rPr lang="en-US" sz="1600" dirty="0"/>
              <a:t> </a:t>
            </a:r>
            <a:r>
              <a:rPr lang="en-US" sz="1600" dirty="0" err="1"/>
              <a:t>toán</a:t>
            </a:r>
            <a:r>
              <a:rPr lang="en-US" sz="1600" dirty="0"/>
              <a:t> </a:t>
            </a:r>
            <a:r>
              <a:rPr lang="en-US" sz="1600" dirty="0" err="1"/>
              <a:t>thặng</a:t>
            </a:r>
            <a:r>
              <a:rPr lang="en-US" sz="1600" dirty="0"/>
              <a:t> </a:t>
            </a:r>
            <a:r>
              <a:rPr lang="en-US" sz="1600" dirty="0" err="1"/>
              <a:t>dư</a:t>
            </a:r>
            <a:r>
              <a:rPr lang="en-US" sz="1600" dirty="0"/>
              <a:t> gradient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2F74B5-F779-798A-39DB-15CAB4555D7F}"/>
                  </a:ext>
                </a:extLst>
              </p:cNvPr>
              <p:cNvSpPr/>
              <p:nvPr/>
            </p:nvSpPr>
            <p:spPr>
              <a:xfrm>
                <a:off x="338364" y="2397967"/>
                <a:ext cx="4233636" cy="112900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𝑎𝑟𝑔𝑚𝑖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𝛾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𝑠𝑢</m:t>
                          </m:r>
                          <m:sSubSup>
                            <m:sSub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b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; 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</m:e>
                          </m:d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A2F74B5-F779-798A-39DB-15CAB4555D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64" y="2397967"/>
                <a:ext cx="4233636" cy="11290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8984DC3-C364-ADE3-05BC-335E32139AB3}"/>
                  </a:ext>
                </a:extLst>
              </p:cNvPr>
              <p:cNvSpPr/>
              <p:nvPr/>
            </p:nvSpPr>
            <p:spPr>
              <a:xfrm>
                <a:off x="4758612" y="2397967"/>
                <a:ext cx="3872204" cy="1129004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𝑖𝑚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 −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num>
                                <m:den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8984DC3-C364-ADE3-05BC-335E32139A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8612" y="2397967"/>
                <a:ext cx="3872204" cy="11290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DA1BFB35-F9E4-7FAB-02DA-9E53CF00798C}"/>
              </a:ext>
            </a:extLst>
          </p:cNvPr>
          <p:cNvSpPr/>
          <p:nvPr/>
        </p:nvSpPr>
        <p:spPr>
          <a:xfrm>
            <a:off x="368106" y="3732245"/>
            <a:ext cx="4233636" cy="55829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0.2 </a:t>
            </a:r>
            <a:r>
              <a:rPr lang="en-US" sz="1600" dirty="0" err="1"/>
              <a:t>Vòng</a:t>
            </a:r>
            <a:r>
              <a:rPr lang="en-US" sz="1600" dirty="0"/>
              <a:t> </a:t>
            </a:r>
            <a:r>
              <a:rPr lang="en-US" sz="1600" dirty="0" err="1"/>
              <a:t>lặp</a:t>
            </a:r>
            <a:endParaRPr lang="en-US" sz="16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8BEA1B-45B9-2CB6-BB52-95B175A5755A}"/>
              </a:ext>
            </a:extLst>
          </p:cNvPr>
          <p:cNvSpPr/>
          <p:nvPr/>
        </p:nvSpPr>
        <p:spPr>
          <a:xfrm>
            <a:off x="368106" y="4290536"/>
            <a:ext cx="4233636" cy="11214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for</a:t>
            </a:r>
            <a:r>
              <a:rPr lang="en-US" sz="1600" dirty="0"/>
              <a:t> </a:t>
            </a:r>
            <a:r>
              <a:rPr lang="en-US" sz="1600" i="1" dirty="0"/>
              <a:t>m</a:t>
            </a:r>
            <a:r>
              <a:rPr lang="en-US" sz="1600" dirty="0"/>
              <a:t> = 1 : </a:t>
            </a:r>
            <a:r>
              <a:rPr lang="en-US" sz="1600" i="1" dirty="0"/>
              <a:t>M</a:t>
            </a:r>
            <a:r>
              <a:rPr lang="en-US" sz="1600" dirty="0"/>
              <a:t> </a:t>
            </a:r>
            <a:r>
              <a:rPr lang="en-US" sz="1600" b="1" dirty="0"/>
              <a:t>do</a:t>
            </a:r>
            <a:endParaRPr lang="en-US" sz="16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F4FE15-C79A-A8D5-6D04-7BEFEF1489CC}"/>
              </a:ext>
            </a:extLst>
          </p:cNvPr>
          <p:cNvSpPr/>
          <p:nvPr/>
        </p:nvSpPr>
        <p:spPr>
          <a:xfrm>
            <a:off x="4775208" y="3732245"/>
            <a:ext cx="3855608" cy="55071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0.4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yếu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γ</a:t>
            </a:r>
            <a:r>
              <a:rPr lang="en-US" i="1" dirty="0" err="1"/>
              <a:t>m</a:t>
            </a:r>
            <a:r>
              <a:rPr lang="en-US" dirty="0"/>
              <a:t> </a:t>
            </a:r>
            <a:r>
              <a:rPr lang="en-US" dirty="0" err="1"/>
              <a:t>nhằm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tiểu</a:t>
            </a:r>
            <a:r>
              <a:rPr lang="en-US" dirty="0"/>
              <a:t> </a:t>
            </a:r>
            <a:r>
              <a:rPr lang="en-US" dirty="0" err="1"/>
              <a:t>hóa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6CAB924-8FEE-4009-5279-E7239333D5D6}"/>
                  </a:ext>
                </a:extLst>
              </p:cNvPr>
              <p:cNvSpPr/>
              <p:nvPr/>
            </p:nvSpPr>
            <p:spPr>
              <a:xfrm>
                <a:off x="4775208" y="4282964"/>
                <a:ext cx="3855608" cy="1129004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𝑖𝑚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 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 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𝛾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6CAB924-8FEE-4009-5279-E7239333D5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5208" y="4282964"/>
                <a:ext cx="3855608" cy="11290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6BB94C-6221-E511-686D-AD708C02EC51}"/>
                  </a:ext>
                </a:extLst>
              </p:cNvPr>
              <p:cNvSpPr/>
              <p:nvPr/>
            </p:nvSpPr>
            <p:spPr>
              <a:xfrm>
                <a:off x="338364" y="5515937"/>
                <a:ext cx="8337355" cy="550719"/>
              </a:xfrm>
              <a:prstGeom prst="rect">
                <a:avLst/>
              </a:prstGeom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dirty="0"/>
                  <a:t>0.5 </a:t>
                </a:r>
                <a:r>
                  <a:rPr lang="en-US" dirty="0" err="1"/>
                  <a:t>Cập</a:t>
                </a:r>
                <a:r>
                  <a:rPr lang="en-US" dirty="0"/>
                  <a:t> </a:t>
                </a:r>
                <a:r>
                  <a:rPr lang="en-US" dirty="0" err="1"/>
                  <a:t>nhật</a:t>
                </a:r>
                <a:r>
                  <a:rPr lang="en-US" dirty="0"/>
                  <a:t>:	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𝑚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𝜈𝜙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;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216BB94C-6221-E511-686D-AD708C02EC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364" y="5515937"/>
                <a:ext cx="8337355" cy="550719"/>
              </a:xfrm>
              <a:prstGeom prst="rect">
                <a:avLst/>
              </a:prstGeom>
              <a:blipFill>
                <a:blip r:embed="rId6"/>
                <a:stretch>
                  <a:fillRect l="-584" t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3279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EEBA7-EDD0-2BAD-6CF5-9AC7E26B9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2956DB43-84CD-D4C7-BA03-50FE64380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1CB917C-38AC-E615-5EBE-8EDCE076BDCC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65B75E8-DF30-9B77-01EA-7C9203A2C7F8}"/>
              </a:ext>
            </a:extLst>
          </p:cNvPr>
          <p:cNvSpPr txBox="1"/>
          <p:nvPr/>
        </p:nvSpPr>
        <p:spPr>
          <a:xfrm>
            <a:off x="179744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II:CÁC PHƯƠNG PHÁP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D001899-DEE4-E1D4-C6BA-62F49DFE262F}"/>
              </a:ext>
            </a:extLst>
          </p:cNvPr>
          <p:cNvSpPr txBox="1"/>
          <p:nvPr/>
        </p:nvSpPr>
        <p:spPr>
          <a:xfrm>
            <a:off x="273050" y="803404"/>
            <a:ext cx="8432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04.</a:t>
            </a:r>
            <a:r>
              <a:rPr lang="en-US" b="1" dirty="0"/>
              <a:t> Gradient boosting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BA7B88-0C66-3096-D6A0-E8FAF931E465}"/>
              </a:ext>
            </a:extLst>
          </p:cNvPr>
          <p:cNvSpPr txBox="1"/>
          <p:nvPr/>
        </p:nvSpPr>
        <p:spPr>
          <a:xfrm>
            <a:off x="273050" y="1265069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4.3 </a:t>
            </a:r>
            <a:r>
              <a:rPr lang="en-US" b="1" dirty="0" err="1"/>
              <a:t>Nhận</a:t>
            </a:r>
            <a:r>
              <a:rPr lang="en-US" b="1" dirty="0"/>
              <a:t> </a:t>
            </a:r>
            <a:r>
              <a:rPr lang="en-US" b="1" dirty="0" err="1"/>
              <a:t>xét</a:t>
            </a:r>
            <a:endParaRPr lang="en-US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DB8A25-50E2-18A7-F798-A21607D1FAD5}"/>
              </a:ext>
            </a:extLst>
          </p:cNvPr>
          <p:cNvSpPr/>
          <p:nvPr/>
        </p:nvSpPr>
        <p:spPr>
          <a:xfrm>
            <a:off x="475861" y="1810139"/>
            <a:ext cx="7874389" cy="28831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mát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(squared loss),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thu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L2Boosting.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mát</a:t>
            </a:r>
            <a:r>
              <a:rPr lang="en-US" dirty="0"/>
              <a:t> log (log-loss),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nhận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b="1" dirty="0" err="1"/>
              <a:t>BinomialBoost</a:t>
            </a:r>
            <a:r>
              <a:rPr lang="en-US" dirty="0"/>
              <a:t>.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LogitBoost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khả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khớp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: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hộp</a:t>
            </a:r>
            <a:r>
              <a:rPr lang="en-US" dirty="0"/>
              <a:t> </a:t>
            </a:r>
            <a:r>
              <a:rPr lang="en-US" dirty="0" err="1"/>
              <a:t>đen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vector gradient. </a:t>
            </a:r>
            <a:r>
              <a:rPr lang="en-US" dirty="0" err="1"/>
              <a:t>Ngoài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,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mở</a:t>
            </a:r>
            <a:r>
              <a:rPr lang="en-US" dirty="0"/>
              <a:t> </a:t>
            </a:r>
            <a:r>
              <a:rPr lang="en-US" dirty="0" err="1"/>
              <a:t>rộng</a:t>
            </a:r>
            <a:r>
              <a:rPr lang="en-US" dirty="0"/>
              <a:t> sang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lớp</a:t>
            </a:r>
            <a:r>
              <a:rPr lang="en-US" dirty="0"/>
              <a:t>.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cũng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áp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mát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, </a:t>
            </a:r>
            <a:r>
              <a:rPr lang="en-US" dirty="0" err="1"/>
              <a:t>chẳng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mát</a:t>
            </a:r>
            <a:r>
              <a:rPr lang="en-US" dirty="0"/>
              <a:t> Huber,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mẽ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trước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ngoại</a:t>
            </a:r>
            <a:r>
              <a:rPr lang="en-US" dirty="0"/>
              <a:t> lai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mất</a:t>
            </a:r>
            <a:r>
              <a:rPr lang="en-US" dirty="0"/>
              <a:t> </a:t>
            </a:r>
            <a:r>
              <a:rPr lang="en-US" dirty="0" err="1"/>
              <a:t>mát</a:t>
            </a:r>
            <a:r>
              <a:rPr lang="en-US" dirty="0"/>
              <a:t>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phương</a:t>
            </a:r>
            <a:r>
              <a:rPr lang="en-US" dirty="0"/>
              <a:t> </a:t>
            </a:r>
            <a:r>
              <a:rPr lang="en-US" dirty="0" err="1"/>
              <a:t>sai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.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9167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90B70-849C-BD6A-6753-69E29A6B6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68BEA41-31F9-F213-427D-FAC72C885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A2BCC30-E584-8D34-20B9-67EDADF63318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46E3DF-7D93-7A44-CE81-0D9AC6A14D79}"/>
              </a:ext>
            </a:extLst>
          </p:cNvPr>
          <p:cNvSpPr txBox="1"/>
          <p:nvPr/>
        </p:nvSpPr>
        <p:spPr>
          <a:xfrm>
            <a:off x="114429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III:DEMO VÀ SO SÁNH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F3EF309-55BC-743A-5AAE-3990DBB2C5BF}"/>
              </a:ext>
            </a:extLst>
          </p:cNvPr>
          <p:cNvSpPr txBox="1"/>
          <p:nvPr/>
        </p:nvSpPr>
        <p:spPr>
          <a:xfrm>
            <a:off x="282380" y="849570"/>
            <a:ext cx="84324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i="1" dirty="0"/>
              <a:t>Dự đoán khách hàng rời bỏ dịch vụ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D5AFF5-6D14-368E-FD96-B27DAB2D35C9}"/>
              </a:ext>
            </a:extLst>
          </p:cNvPr>
          <p:cNvSpPr/>
          <p:nvPr/>
        </p:nvSpPr>
        <p:spPr>
          <a:xfrm>
            <a:off x="368106" y="1218903"/>
            <a:ext cx="8169404" cy="7685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ty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viễn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muốn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đoán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nào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sẽ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rời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bỏ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can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thiệp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kịp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chân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dirty="0" err="1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</a:t>
            </a:r>
            <a:r>
              <a:rPr lang="en-US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FF20BAF-7CD3-1BBD-ABD3-5C97CF889ED8}"/>
              </a:ext>
            </a:extLst>
          </p:cNvPr>
          <p:cNvSpPr/>
          <p:nvPr/>
        </p:nvSpPr>
        <p:spPr>
          <a:xfrm>
            <a:off x="365760" y="2080259"/>
            <a:ext cx="2560320" cy="358744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0FFDEE3-4041-A632-F1C7-69AC11408BC2}"/>
              </a:ext>
            </a:extLst>
          </p:cNvPr>
          <p:cNvSpPr/>
          <p:nvPr/>
        </p:nvSpPr>
        <p:spPr>
          <a:xfrm>
            <a:off x="365760" y="2080260"/>
            <a:ext cx="2560320" cy="4114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9779963-BFC3-269B-E133-58B05F3FFBD4}"/>
              </a:ext>
            </a:extLst>
          </p:cNvPr>
          <p:cNvSpPr/>
          <p:nvPr/>
        </p:nvSpPr>
        <p:spPr>
          <a:xfrm>
            <a:off x="457200" y="20802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E6DA074-A28B-048C-8804-AF778FC12B46}"/>
              </a:ext>
            </a:extLst>
          </p:cNvPr>
          <p:cNvSpPr/>
          <p:nvPr/>
        </p:nvSpPr>
        <p:spPr>
          <a:xfrm>
            <a:off x="475488" y="25466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Telco Customer Churn</a:t>
            </a:r>
            <a:endParaRPr lang="en-US" sz="12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BD2D1A9F-5AAD-55B7-3009-5C78704259AC}"/>
              </a:ext>
            </a:extLst>
          </p:cNvPr>
          <p:cNvSpPr/>
          <p:nvPr/>
        </p:nvSpPr>
        <p:spPr>
          <a:xfrm>
            <a:off x="475488" y="295808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Kaggle / IBM Sample Data</a:t>
            </a:r>
            <a:endParaRPr lang="en-US" sz="12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AC412F98-CDA0-6A6A-7EC4-02E6B08697A5}"/>
              </a:ext>
            </a:extLst>
          </p:cNvPr>
          <p:cNvSpPr/>
          <p:nvPr/>
        </p:nvSpPr>
        <p:spPr>
          <a:xfrm>
            <a:off x="475488" y="336956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7,043 khách hàng</a:t>
            </a:r>
            <a:endParaRPr lang="en-US" sz="12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49676182-F946-92B0-E9A5-98342AFE2D18}"/>
              </a:ext>
            </a:extLst>
          </p:cNvPr>
          <p:cNvSpPr/>
          <p:nvPr/>
        </p:nvSpPr>
        <p:spPr>
          <a:xfrm>
            <a:off x="475488" y="378104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20 đặc trưng đầu vào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6B7C6D3-6840-9D79-4BC2-27DAAD796EFC}"/>
              </a:ext>
            </a:extLst>
          </p:cNvPr>
          <p:cNvSpPr/>
          <p:nvPr/>
        </p:nvSpPr>
        <p:spPr>
          <a:xfrm>
            <a:off x="475488" y="41925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Nhãn: Churn (0 / 1)</a:t>
            </a:r>
            <a:endParaRPr lang="en-US" sz="1200" dirty="0"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BA275D3D-5CE5-C86A-FA14-402992341031}"/>
              </a:ext>
            </a:extLst>
          </p:cNvPr>
          <p:cNvSpPr/>
          <p:nvPr/>
        </p:nvSpPr>
        <p:spPr>
          <a:xfrm>
            <a:off x="3063240" y="2080259"/>
            <a:ext cx="2834640" cy="3558837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2FAF230D-8B03-4C39-5EE1-F92B29868567}"/>
              </a:ext>
            </a:extLst>
          </p:cNvPr>
          <p:cNvSpPr/>
          <p:nvPr/>
        </p:nvSpPr>
        <p:spPr>
          <a:xfrm>
            <a:off x="3063240" y="2080260"/>
            <a:ext cx="283464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B9C8FE3B-56B0-18B7-CFE8-3B5CCE50E929}"/>
              </a:ext>
            </a:extLst>
          </p:cNvPr>
          <p:cNvSpPr/>
          <p:nvPr/>
        </p:nvSpPr>
        <p:spPr>
          <a:xfrm>
            <a:off x="3154680" y="20802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Input (X) — 6 features</a:t>
            </a:r>
            <a:endParaRPr lang="en-US" sz="12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F27B7E71-7628-6AB4-20BF-47662BE50D7B}"/>
              </a:ext>
            </a:extLst>
          </p:cNvPr>
          <p:cNvSpPr/>
          <p:nvPr/>
        </p:nvSpPr>
        <p:spPr>
          <a:xfrm>
            <a:off x="3182112" y="25466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tenure — Thời gian sử dụng</a:t>
            </a:r>
            <a:endParaRPr lang="en-US" sz="11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0C82752A-EFA7-52FA-1ECC-E45E12361670}"/>
              </a:ext>
            </a:extLst>
          </p:cNvPr>
          <p:cNvSpPr/>
          <p:nvPr/>
        </p:nvSpPr>
        <p:spPr>
          <a:xfrm>
            <a:off x="3182112" y="29123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MonthlyCharges — Chi phí/tháng</a:t>
            </a:r>
            <a:endParaRPr lang="en-US" sz="11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E0EE2F12-2155-0628-99AA-54B7032F319F}"/>
              </a:ext>
            </a:extLst>
          </p:cNvPr>
          <p:cNvSpPr/>
          <p:nvPr/>
        </p:nvSpPr>
        <p:spPr>
          <a:xfrm>
            <a:off x="3182112" y="32781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TotalCharges — Tổng chi phí</a:t>
            </a:r>
            <a:endParaRPr lang="en-US" sz="11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DE38FEB3-CF3C-E9F8-9391-6170F11C6A6B}"/>
              </a:ext>
            </a:extLst>
          </p:cNvPr>
          <p:cNvSpPr/>
          <p:nvPr/>
        </p:nvSpPr>
        <p:spPr>
          <a:xfrm>
            <a:off x="3182112" y="36438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Contract — Loại hợp đồng</a:t>
            </a:r>
            <a:endParaRPr lang="en-US" sz="11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6FEE8E5-940D-3A1E-0011-A7BB128E42FF}"/>
              </a:ext>
            </a:extLst>
          </p:cNvPr>
          <p:cNvSpPr/>
          <p:nvPr/>
        </p:nvSpPr>
        <p:spPr>
          <a:xfrm>
            <a:off x="3182112" y="400964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InternetService — Dịch vụ mạng</a:t>
            </a:r>
            <a:endParaRPr lang="en-US" sz="11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4334134B-3D72-9FA4-FE91-6EAB8EB79925}"/>
              </a:ext>
            </a:extLst>
          </p:cNvPr>
          <p:cNvSpPr/>
          <p:nvPr/>
        </p:nvSpPr>
        <p:spPr>
          <a:xfrm>
            <a:off x="3182112" y="43754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PaymentMethod — Thanh toán</a:t>
            </a:r>
            <a:endParaRPr lang="en-US" sz="11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5162FD5E-7F34-D2D4-7F76-83317D6E6D5B}"/>
              </a:ext>
            </a:extLst>
          </p:cNvPr>
          <p:cNvSpPr/>
          <p:nvPr/>
        </p:nvSpPr>
        <p:spPr>
          <a:xfrm>
            <a:off x="6035040" y="2080260"/>
            <a:ext cx="27432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93826D6D-5802-DF9F-699C-74B8A3F24460}"/>
              </a:ext>
            </a:extLst>
          </p:cNvPr>
          <p:cNvSpPr/>
          <p:nvPr/>
        </p:nvSpPr>
        <p:spPr>
          <a:xfrm>
            <a:off x="6035040" y="2080260"/>
            <a:ext cx="274320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E0D934E3-235A-1AF9-B1B3-53D9F8923197}"/>
              </a:ext>
            </a:extLst>
          </p:cNvPr>
          <p:cNvSpPr/>
          <p:nvPr/>
        </p:nvSpPr>
        <p:spPr>
          <a:xfrm>
            <a:off x="6126480" y="20802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Output (y)</a:t>
            </a:r>
            <a:endParaRPr lang="en-US" sz="1300" dirty="0"/>
          </a:p>
        </p:txBody>
      </p:sp>
      <p:sp>
        <p:nvSpPr>
          <p:cNvPr id="30" name="Text 25">
            <a:extLst>
              <a:ext uri="{FF2B5EF4-FFF2-40B4-BE49-F238E27FC236}">
                <a16:creationId xmlns:a16="http://schemas.microsoft.com/office/drawing/2014/main" id="{C0E72610-4888-EE11-F5C5-7EC934354B04}"/>
              </a:ext>
            </a:extLst>
          </p:cNvPr>
          <p:cNvSpPr/>
          <p:nvPr/>
        </p:nvSpPr>
        <p:spPr>
          <a:xfrm>
            <a:off x="6144768" y="2546604"/>
            <a:ext cx="25603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: Không rời dịch vụ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Rời dịch vụ (Churn)</a:t>
            </a:r>
            <a:endParaRPr lang="en-US" sz="1250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F35B7960-F3AC-7353-9C78-47E4256B1736}"/>
              </a:ext>
            </a:extLst>
          </p:cNvPr>
          <p:cNvSpPr/>
          <p:nvPr/>
        </p:nvSpPr>
        <p:spPr>
          <a:xfrm>
            <a:off x="6035040" y="3451860"/>
            <a:ext cx="2743200" cy="2101882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7">
            <a:extLst>
              <a:ext uri="{FF2B5EF4-FFF2-40B4-BE49-F238E27FC236}">
                <a16:creationId xmlns:a16="http://schemas.microsoft.com/office/drawing/2014/main" id="{108B0277-0ABC-528E-85AC-63FEA6106406}"/>
              </a:ext>
            </a:extLst>
          </p:cNvPr>
          <p:cNvSpPr/>
          <p:nvPr/>
        </p:nvSpPr>
        <p:spPr>
          <a:xfrm>
            <a:off x="6035040" y="3444245"/>
            <a:ext cx="274320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8">
            <a:extLst>
              <a:ext uri="{FF2B5EF4-FFF2-40B4-BE49-F238E27FC236}">
                <a16:creationId xmlns:a16="http://schemas.microsoft.com/office/drawing/2014/main" id="{068C9BD5-472D-8C3F-6F98-90C908741094}"/>
              </a:ext>
            </a:extLst>
          </p:cNvPr>
          <p:cNvSpPr/>
          <p:nvPr/>
        </p:nvSpPr>
        <p:spPr>
          <a:xfrm>
            <a:off x="6126480" y="34518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Loại bài toán</a:t>
            </a:r>
            <a:endParaRPr lang="en-US" sz="1300" dirty="0"/>
          </a:p>
        </p:txBody>
      </p:sp>
      <p:sp>
        <p:nvSpPr>
          <p:cNvPr id="34" name="Text 29">
            <a:extLst>
              <a:ext uri="{FF2B5EF4-FFF2-40B4-BE49-F238E27FC236}">
                <a16:creationId xmlns:a16="http://schemas.microsoft.com/office/drawing/2014/main" id="{38947872-804C-5749-E68F-99587DDED519}"/>
              </a:ext>
            </a:extLst>
          </p:cNvPr>
          <p:cNvSpPr/>
          <p:nvPr/>
        </p:nvSpPr>
        <p:spPr>
          <a:xfrm>
            <a:off x="6144768" y="3918204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loại nhị phân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958758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AA91E-DBE5-838B-53CF-DF3100790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390FB25D-ADD0-DF0A-CE0C-6110FCAC4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776913-51D1-10AF-F77F-1E0FCF248EDA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83C684A-6345-8BE3-E0F6-79805E83262E}"/>
              </a:ext>
            </a:extLst>
          </p:cNvPr>
          <p:cNvSpPr txBox="1"/>
          <p:nvPr/>
        </p:nvSpPr>
        <p:spPr>
          <a:xfrm>
            <a:off x="114429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III:DEMO VÀ SO SÁNH</a:t>
            </a:r>
          </a:p>
        </p:txBody>
      </p:sp>
      <p:pic>
        <p:nvPicPr>
          <p:cNvPr id="58" name="Picture 57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BB8CEDCD-572F-C5D9-F524-E6422DCDBA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23" y="994986"/>
            <a:ext cx="7319628" cy="40901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88792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76F3B-7070-1A2B-7D87-F6D0774DC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BD0BC0A4-10EB-9E63-8C31-EA3FA865B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1952749-AD44-AB14-387A-2074449E1BC3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79092E5-A9D4-0E72-DC49-ECE8345C052B}"/>
              </a:ext>
            </a:extLst>
          </p:cNvPr>
          <p:cNvSpPr txBox="1"/>
          <p:nvPr/>
        </p:nvSpPr>
        <p:spPr>
          <a:xfrm>
            <a:off x="114429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III:DEMO VÀ SO SÁNH</a:t>
            </a:r>
          </a:p>
        </p:txBody>
      </p:sp>
      <p:pic>
        <p:nvPicPr>
          <p:cNvPr id="4" name="Picture 3" descr="A diagram of a software development process&#10;&#10;AI-generated content may be incorrect.">
            <a:extLst>
              <a:ext uri="{FF2B5EF4-FFF2-40B4-BE49-F238E27FC236}">
                <a16:creationId xmlns:a16="http://schemas.microsoft.com/office/drawing/2014/main" id="{33A9CE60-C0B7-88EB-CAC0-F80D17204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1708" y="1405293"/>
            <a:ext cx="5939790" cy="3860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9986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AFBF8-4691-2EC3-9554-783BF6B3F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770CB0A2-FCE9-FA73-9FEC-AE46653BA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015B52-7674-0D82-7D19-1B9F5CFBC632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DE7D1B-DCBC-6261-0321-89493CCD5795}"/>
              </a:ext>
            </a:extLst>
          </p:cNvPr>
          <p:cNvSpPr txBox="1"/>
          <p:nvPr/>
        </p:nvSpPr>
        <p:spPr>
          <a:xfrm>
            <a:off x="114429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III:DEMO VÀ SO SÁNH</a:t>
            </a:r>
          </a:p>
        </p:txBody>
      </p:sp>
      <p:pic>
        <p:nvPicPr>
          <p:cNvPr id="5" name="Picture 4" descr="A graph with blue lines&#10;&#10;AI-generated content may be incorrect.">
            <a:extLst>
              <a:ext uri="{FF2B5EF4-FFF2-40B4-BE49-F238E27FC236}">
                <a16:creationId xmlns:a16="http://schemas.microsoft.com/office/drawing/2014/main" id="{B59F468F-3918-215D-979A-63C46F9EFB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333" y="1172735"/>
            <a:ext cx="6599504" cy="40803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99708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D04CB-AB18-0DF9-832E-2845C6BD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A3A8135-54F6-5151-8CF8-73210D453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E7FF8A5-2CFA-B205-4A7E-DD40D5BB2876}"/>
              </a:ext>
            </a:extLst>
          </p:cNvPr>
          <p:cNvCxnSpPr/>
          <p:nvPr/>
        </p:nvCxnSpPr>
        <p:spPr>
          <a:xfrm>
            <a:off x="368106" y="7110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6768786-6BFA-C3BF-D011-73E673DAE9E4}"/>
              </a:ext>
            </a:extLst>
          </p:cNvPr>
          <p:cNvSpPr txBox="1"/>
          <p:nvPr/>
        </p:nvSpPr>
        <p:spPr>
          <a:xfrm>
            <a:off x="114429" y="249406"/>
            <a:ext cx="6883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III:DEMO VÀ SO SÁNH</a:t>
            </a:r>
          </a:p>
        </p:txBody>
      </p:sp>
      <p:sp>
        <p:nvSpPr>
          <p:cNvPr id="27" name="Shape 3">
            <a:extLst>
              <a:ext uri="{FF2B5EF4-FFF2-40B4-BE49-F238E27FC236}">
                <a16:creationId xmlns:a16="http://schemas.microsoft.com/office/drawing/2014/main" id="{1EFE6078-78DF-265D-C614-FC3EF179E986}"/>
              </a:ext>
            </a:extLst>
          </p:cNvPr>
          <p:cNvSpPr/>
          <p:nvPr/>
        </p:nvSpPr>
        <p:spPr>
          <a:xfrm>
            <a:off x="365760" y="1371600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B1C16922-C43C-AA96-880F-B516DB21EAAA}"/>
              </a:ext>
            </a:extLst>
          </p:cNvPr>
          <p:cNvSpPr/>
          <p:nvPr/>
        </p:nvSpPr>
        <p:spPr>
          <a:xfrm>
            <a:off x="365760" y="1371600"/>
            <a:ext cx="73152" cy="6858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CDB4B66D-68CC-8872-D07A-AD641C84FC6D}"/>
              </a:ext>
            </a:extLst>
          </p:cNvPr>
          <p:cNvSpPr/>
          <p:nvPr/>
        </p:nvSpPr>
        <p:spPr>
          <a:xfrm>
            <a:off x="548640" y="141732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EB8CF046-3720-99F4-FA44-856EA01DEE97}"/>
              </a:ext>
            </a:extLst>
          </p:cNvPr>
          <p:cNvSpPr/>
          <p:nvPr/>
        </p:nvSpPr>
        <p:spPr>
          <a:xfrm>
            <a:off x="548640" y="177393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~0.709</a:t>
            </a:r>
            <a:endParaRPr lang="en-US" sz="1100" dirty="0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A09B8EA5-D45C-4E47-094C-A7EEC1D711C0}"/>
              </a:ext>
            </a:extLst>
          </p:cNvPr>
          <p:cNvSpPr/>
          <p:nvPr/>
        </p:nvSpPr>
        <p:spPr>
          <a:xfrm>
            <a:off x="2377440" y="1572768"/>
            <a:ext cx="4023360" cy="274320"/>
          </a:xfrm>
          <a:prstGeom prst="rect">
            <a:avLst/>
          </a:prstGeom>
          <a:solidFill>
            <a:srgbClr val="EBE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38408CEA-172D-4569-7B91-5E116781B8A8}"/>
              </a:ext>
            </a:extLst>
          </p:cNvPr>
          <p:cNvSpPr/>
          <p:nvPr/>
        </p:nvSpPr>
        <p:spPr>
          <a:xfrm>
            <a:off x="2377440" y="1572768"/>
            <a:ext cx="2896819" cy="2743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ABC76C48-07CC-AF17-160F-552C1C112783}"/>
              </a:ext>
            </a:extLst>
          </p:cNvPr>
          <p:cNvSpPr/>
          <p:nvPr/>
        </p:nvSpPr>
        <p:spPr>
          <a:xfrm>
            <a:off x="5329123" y="15727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70.9%</a:t>
            </a:r>
            <a:endParaRPr lang="en-US" sz="11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0E2D062C-6288-08A7-2216-CFC9979081FA}"/>
              </a:ext>
            </a:extLst>
          </p:cNvPr>
          <p:cNvSpPr/>
          <p:nvPr/>
        </p:nvSpPr>
        <p:spPr>
          <a:xfrm>
            <a:off x="6720840" y="148132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— học thuộc tập train</a:t>
            </a:r>
            <a:endParaRPr lang="en-US" sz="1100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93592639-7F82-2F08-290C-3972B15D5751}"/>
              </a:ext>
            </a:extLst>
          </p:cNvPr>
          <p:cNvSpPr/>
          <p:nvPr/>
        </p:nvSpPr>
        <p:spPr>
          <a:xfrm>
            <a:off x="365760" y="212140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ED0962AE-60A1-0A29-AF46-44ED38A153D6}"/>
              </a:ext>
            </a:extLst>
          </p:cNvPr>
          <p:cNvSpPr/>
          <p:nvPr/>
        </p:nvSpPr>
        <p:spPr>
          <a:xfrm>
            <a:off x="365760" y="2121408"/>
            <a:ext cx="73152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F07AF691-1995-AB1E-A19D-28087853B634}"/>
              </a:ext>
            </a:extLst>
          </p:cNvPr>
          <p:cNvSpPr/>
          <p:nvPr/>
        </p:nvSpPr>
        <p:spPr>
          <a:xfrm>
            <a:off x="548640" y="21671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300" dirty="0"/>
          </a:p>
        </p:txBody>
      </p:sp>
      <p:sp>
        <p:nvSpPr>
          <p:cNvPr id="39" name="Text 14">
            <a:extLst>
              <a:ext uri="{FF2B5EF4-FFF2-40B4-BE49-F238E27FC236}">
                <a16:creationId xmlns:a16="http://schemas.microsoft.com/office/drawing/2014/main" id="{83020B71-FC41-66E9-4D01-A3A6C24C8BC7}"/>
              </a:ext>
            </a:extLst>
          </p:cNvPr>
          <p:cNvSpPr/>
          <p:nvPr/>
        </p:nvSpPr>
        <p:spPr>
          <a:xfrm>
            <a:off x="548640" y="252374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~0.797</a:t>
            </a:r>
            <a:endParaRPr lang="en-US" sz="1100" dirty="0"/>
          </a:p>
        </p:txBody>
      </p:sp>
      <p:sp>
        <p:nvSpPr>
          <p:cNvPr id="40" name="Shape 15">
            <a:extLst>
              <a:ext uri="{FF2B5EF4-FFF2-40B4-BE49-F238E27FC236}">
                <a16:creationId xmlns:a16="http://schemas.microsoft.com/office/drawing/2014/main" id="{D49EA787-F25C-64DA-9DCC-B25B876D3AC4}"/>
              </a:ext>
            </a:extLst>
          </p:cNvPr>
          <p:cNvSpPr/>
          <p:nvPr/>
        </p:nvSpPr>
        <p:spPr>
          <a:xfrm>
            <a:off x="2377440" y="2322576"/>
            <a:ext cx="4023360" cy="274320"/>
          </a:xfrm>
          <a:prstGeom prst="rect">
            <a:avLst/>
          </a:prstGeom>
          <a:solidFill>
            <a:srgbClr val="EBE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16">
            <a:extLst>
              <a:ext uri="{FF2B5EF4-FFF2-40B4-BE49-F238E27FC236}">
                <a16:creationId xmlns:a16="http://schemas.microsoft.com/office/drawing/2014/main" id="{F464FECA-8CD3-52F3-A81D-1444902DD57A}"/>
              </a:ext>
            </a:extLst>
          </p:cNvPr>
          <p:cNvSpPr/>
          <p:nvPr/>
        </p:nvSpPr>
        <p:spPr>
          <a:xfrm>
            <a:off x="2377440" y="2322576"/>
            <a:ext cx="3138221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0EA25659-D506-B061-9E40-9992B127930E}"/>
              </a:ext>
            </a:extLst>
          </p:cNvPr>
          <p:cNvSpPr/>
          <p:nvPr/>
        </p:nvSpPr>
        <p:spPr>
          <a:xfrm>
            <a:off x="5570525" y="2322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79.7%</a:t>
            </a:r>
            <a:endParaRPr lang="en-US" sz="1100" dirty="0"/>
          </a:p>
        </p:txBody>
      </p:sp>
      <p:sp>
        <p:nvSpPr>
          <p:cNvPr id="43" name="Text 18">
            <a:extLst>
              <a:ext uri="{FF2B5EF4-FFF2-40B4-BE49-F238E27FC236}">
                <a16:creationId xmlns:a16="http://schemas.microsoft.com/office/drawing/2014/main" id="{C8312C2E-3523-9A66-9C28-81CD7E279215}"/>
              </a:ext>
            </a:extLst>
          </p:cNvPr>
          <p:cNvSpPr/>
          <p:nvPr/>
        </p:nvSpPr>
        <p:spPr>
          <a:xfrm>
            <a:off x="6720840" y="2231136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Ổn định hơn nhờ trung bình hóa</a:t>
            </a:r>
            <a:endParaRPr lang="en-US" sz="1100" dirty="0"/>
          </a:p>
        </p:txBody>
      </p:sp>
      <p:sp>
        <p:nvSpPr>
          <p:cNvPr id="44" name="Shape 19">
            <a:extLst>
              <a:ext uri="{FF2B5EF4-FFF2-40B4-BE49-F238E27FC236}">
                <a16:creationId xmlns:a16="http://schemas.microsoft.com/office/drawing/2014/main" id="{947633B2-AE93-499C-E57E-53E82C2251E5}"/>
              </a:ext>
            </a:extLst>
          </p:cNvPr>
          <p:cNvSpPr/>
          <p:nvPr/>
        </p:nvSpPr>
        <p:spPr>
          <a:xfrm>
            <a:off x="365760" y="2871216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3584A4CB-B442-D1B7-3045-727B10E15F96}"/>
              </a:ext>
            </a:extLst>
          </p:cNvPr>
          <p:cNvSpPr/>
          <p:nvPr/>
        </p:nvSpPr>
        <p:spPr>
          <a:xfrm>
            <a:off x="365760" y="2871216"/>
            <a:ext cx="73152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8D4BACA3-BCBD-0E79-B42C-4DF054638A4C}"/>
              </a:ext>
            </a:extLst>
          </p:cNvPr>
          <p:cNvSpPr/>
          <p:nvPr/>
        </p:nvSpPr>
        <p:spPr>
          <a:xfrm>
            <a:off x="548640" y="291693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</a:t>
            </a:r>
            <a:endParaRPr lang="en-US" sz="13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26303F24-BB45-2F5D-6AC9-670960DAABF4}"/>
              </a:ext>
            </a:extLst>
          </p:cNvPr>
          <p:cNvSpPr/>
          <p:nvPr/>
        </p:nvSpPr>
        <p:spPr>
          <a:xfrm>
            <a:off x="548640" y="327355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~0.807</a:t>
            </a:r>
            <a:endParaRPr lang="en-US" sz="1100" dirty="0"/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3F74697C-BD21-9A80-1B22-EE3D082131CC}"/>
              </a:ext>
            </a:extLst>
          </p:cNvPr>
          <p:cNvSpPr/>
          <p:nvPr/>
        </p:nvSpPr>
        <p:spPr>
          <a:xfrm>
            <a:off x="2377440" y="3072384"/>
            <a:ext cx="4023360" cy="274320"/>
          </a:xfrm>
          <a:prstGeom prst="rect">
            <a:avLst/>
          </a:prstGeom>
          <a:solidFill>
            <a:srgbClr val="EBE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24">
            <a:extLst>
              <a:ext uri="{FF2B5EF4-FFF2-40B4-BE49-F238E27FC236}">
                <a16:creationId xmlns:a16="http://schemas.microsoft.com/office/drawing/2014/main" id="{2E42FA33-7B0E-231A-6DEC-FDDA4E1E222B}"/>
              </a:ext>
            </a:extLst>
          </p:cNvPr>
          <p:cNvSpPr/>
          <p:nvPr/>
        </p:nvSpPr>
        <p:spPr>
          <a:xfrm>
            <a:off x="2377440" y="3072384"/>
            <a:ext cx="3233318" cy="2743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B8983254-F542-5AB7-1A6A-E50DA04E7897}"/>
              </a:ext>
            </a:extLst>
          </p:cNvPr>
          <p:cNvSpPr/>
          <p:nvPr/>
        </p:nvSpPr>
        <p:spPr>
          <a:xfrm>
            <a:off x="5610758" y="3072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80.7%</a:t>
            </a:r>
            <a:endParaRPr lang="en-US" sz="1100" dirty="0"/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7975CEA0-12BC-3581-9BD9-B7D56F9D73DE}"/>
              </a:ext>
            </a:extLst>
          </p:cNvPr>
          <p:cNvSpPr/>
          <p:nvPr/>
        </p:nvSpPr>
        <p:spPr>
          <a:xfrm>
            <a:off x="6720840" y="298094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Tập trung học điểm khó</a:t>
            </a:r>
            <a:endParaRPr lang="en-US" sz="1100" dirty="0"/>
          </a:p>
        </p:txBody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4DACF060-56B9-337C-44E9-DBA088176C9B}"/>
              </a:ext>
            </a:extLst>
          </p:cNvPr>
          <p:cNvSpPr/>
          <p:nvPr/>
        </p:nvSpPr>
        <p:spPr>
          <a:xfrm>
            <a:off x="365760" y="3621024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009AA8F4-2567-6A85-849D-B9C08659EBC3}"/>
              </a:ext>
            </a:extLst>
          </p:cNvPr>
          <p:cNvSpPr/>
          <p:nvPr/>
        </p:nvSpPr>
        <p:spPr>
          <a:xfrm>
            <a:off x="365760" y="3621024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7FDBEC15-CE52-5D7C-64B2-2A0267713984}"/>
              </a:ext>
            </a:extLst>
          </p:cNvPr>
          <p:cNvSpPr/>
          <p:nvPr/>
        </p:nvSpPr>
        <p:spPr>
          <a:xfrm>
            <a:off x="548640" y="366674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3C3BACB4-8CAA-6E95-C8AD-40233FCDA916}"/>
              </a:ext>
            </a:extLst>
          </p:cNvPr>
          <p:cNvSpPr/>
          <p:nvPr/>
        </p:nvSpPr>
        <p:spPr>
          <a:xfrm>
            <a:off x="548640" y="402336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~0.80</a:t>
            </a:r>
            <a:endParaRPr lang="en-US" sz="1100" dirty="0"/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7915EA16-6198-74D8-A1A4-07AC0855C873}"/>
              </a:ext>
            </a:extLst>
          </p:cNvPr>
          <p:cNvSpPr/>
          <p:nvPr/>
        </p:nvSpPr>
        <p:spPr>
          <a:xfrm>
            <a:off x="2377440" y="3822192"/>
            <a:ext cx="4023360" cy="274320"/>
          </a:xfrm>
          <a:prstGeom prst="rect">
            <a:avLst/>
          </a:prstGeom>
          <a:solidFill>
            <a:srgbClr val="EBE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32">
            <a:extLst>
              <a:ext uri="{FF2B5EF4-FFF2-40B4-BE49-F238E27FC236}">
                <a16:creationId xmlns:a16="http://schemas.microsoft.com/office/drawing/2014/main" id="{D3CA75B0-A279-97CD-4C68-90230CCA1A49}"/>
              </a:ext>
            </a:extLst>
          </p:cNvPr>
          <p:cNvSpPr/>
          <p:nvPr/>
        </p:nvSpPr>
        <p:spPr>
          <a:xfrm>
            <a:off x="2377440" y="3822192"/>
            <a:ext cx="3218688" cy="2743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33">
            <a:extLst>
              <a:ext uri="{FF2B5EF4-FFF2-40B4-BE49-F238E27FC236}">
                <a16:creationId xmlns:a16="http://schemas.microsoft.com/office/drawing/2014/main" id="{00E3F6A4-FEF9-B356-22C7-090EDD020716}"/>
              </a:ext>
            </a:extLst>
          </p:cNvPr>
          <p:cNvSpPr/>
          <p:nvPr/>
        </p:nvSpPr>
        <p:spPr>
          <a:xfrm>
            <a:off x="5650992" y="38221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00" dirty="0"/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7BB7EF21-274C-DCDD-C626-495284602818}"/>
              </a:ext>
            </a:extLst>
          </p:cNvPr>
          <p:cNvSpPr/>
          <p:nvPr/>
        </p:nvSpPr>
        <p:spPr>
          <a:xfrm>
            <a:off x="6720840" y="373075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Variance — kháng nhiễu tốt</a:t>
            </a:r>
            <a:endParaRPr lang="en-US" sz="1100" dirty="0"/>
          </a:p>
        </p:txBody>
      </p:sp>
      <p:sp>
        <p:nvSpPr>
          <p:cNvPr id="60" name="Shape 35">
            <a:extLst>
              <a:ext uri="{FF2B5EF4-FFF2-40B4-BE49-F238E27FC236}">
                <a16:creationId xmlns:a16="http://schemas.microsoft.com/office/drawing/2014/main" id="{52F89519-926D-44F9-486D-AC41DD5B4DCB}"/>
              </a:ext>
            </a:extLst>
          </p:cNvPr>
          <p:cNvSpPr/>
          <p:nvPr/>
        </p:nvSpPr>
        <p:spPr>
          <a:xfrm>
            <a:off x="365760" y="4370832"/>
            <a:ext cx="8412480" cy="685800"/>
          </a:xfrm>
          <a:prstGeom prst="rect">
            <a:avLst/>
          </a:prstGeom>
          <a:solidFill>
            <a:srgbClr val="F5F0FF"/>
          </a:solidFill>
          <a:ln w="12700">
            <a:solidFill>
              <a:srgbClr val="7B1FA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1" name="Shape 36">
            <a:extLst>
              <a:ext uri="{FF2B5EF4-FFF2-40B4-BE49-F238E27FC236}">
                <a16:creationId xmlns:a16="http://schemas.microsoft.com/office/drawing/2014/main" id="{639EFDA1-1911-D97E-796C-67F0C0B41E7B}"/>
              </a:ext>
            </a:extLst>
          </p:cNvPr>
          <p:cNvSpPr/>
          <p:nvPr/>
        </p:nvSpPr>
        <p:spPr>
          <a:xfrm>
            <a:off x="365760" y="4370832"/>
            <a:ext cx="73152" cy="68580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37">
            <a:extLst>
              <a:ext uri="{FF2B5EF4-FFF2-40B4-BE49-F238E27FC236}">
                <a16:creationId xmlns:a16="http://schemas.microsoft.com/office/drawing/2014/main" id="{0073EEAE-4CF9-C367-5C49-E903BF09AFD2}"/>
              </a:ext>
            </a:extLst>
          </p:cNvPr>
          <p:cNvSpPr/>
          <p:nvPr/>
        </p:nvSpPr>
        <p:spPr>
          <a:xfrm>
            <a:off x="548640" y="441655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</a:t>
            </a:r>
            <a:endParaRPr lang="en-US" sz="1300" dirty="0"/>
          </a:p>
        </p:txBody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3E3A92B0-8893-8F83-2BDD-8259F9666312}"/>
              </a:ext>
            </a:extLst>
          </p:cNvPr>
          <p:cNvSpPr/>
          <p:nvPr/>
        </p:nvSpPr>
        <p:spPr>
          <a:xfrm>
            <a:off x="548640" y="47731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~0.808</a:t>
            </a:r>
            <a:endParaRPr lang="en-US" sz="1100" dirty="0"/>
          </a:p>
        </p:txBody>
      </p:sp>
      <p:sp>
        <p:nvSpPr>
          <p:cNvPr id="64" name="Shape 39">
            <a:extLst>
              <a:ext uri="{FF2B5EF4-FFF2-40B4-BE49-F238E27FC236}">
                <a16:creationId xmlns:a16="http://schemas.microsoft.com/office/drawing/2014/main" id="{1E1833A6-DEFE-89A6-8F05-636C5985E3C7}"/>
              </a:ext>
            </a:extLst>
          </p:cNvPr>
          <p:cNvSpPr/>
          <p:nvPr/>
        </p:nvSpPr>
        <p:spPr>
          <a:xfrm>
            <a:off x="2377440" y="4572000"/>
            <a:ext cx="4023360" cy="274320"/>
          </a:xfrm>
          <a:prstGeom prst="rect">
            <a:avLst/>
          </a:prstGeom>
          <a:solidFill>
            <a:srgbClr val="EBE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40">
            <a:extLst>
              <a:ext uri="{FF2B5EF4-FFF2-40B4-BE49-F238E27FC236}">
                <a16:creationId xmlns:a16="http://schemas.microsoft.com/office/drawing/2014/main" id="{8EEE69B7-F378-94D2-5846-8794547109AC}"/>
              </a:ext>
            </a:extLst>
          </p:cNvPr>
          <p:cNvSpPr/>
          <p:nvPr/>
        </p:nvSpPr>
        <p:spPr>
          <a:xfrm>
            <a:off x="2377440" y="4572000"/>
            <a:ext cx="3299155" cy="27432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41">
            <a:extLst>
              <a:ext uri="{FF2B5EF4-FFF2-40B4-BE49-F238E27FC236}">
                <a16:creationId xmlns:a16="http://schemas.microsoft.com/office/drawing/2014/main" id="{09497648-E70D-A5E2-949C-6DA552F5FAD8}"/>
              </a:ext>
            </a:extLst>
          </p:cNvPr>
          <p:cNvSpPr/>
          <p:nvPr/>
        </p:nvSpPr>
        <p:spPr>
          <a:xfrm>
            <a:off x="5731459" y="45720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80.8%</a:t>
            </a:r>
            <a:endParaRPr lang="en-US" sz="1100" dirty="0"/>
          </a:p>
        </p:txBody>
      </p:sp>
      <p:sp>
        <p:nvSpPr>
          <p:cNvPr id="67" name="Text 42">
            <a:extLst>
              <a:ext uri="{FF2B5EF4-FFF2-40B4-BE49-F238E27FC236}">
                <a16:creationId xmlns:a16="http://schemas.microsoft.com/office/drawing/2014/main" id="{DC1D19F1-32E8-C475-34BF-20CFB1B1FFA7}"/>
              </a:ext>
            </a:extLst>
          </p:cNvPr>
          <p:cNvSpPr/>
          <p:nvPr/>
        </p:nvSpPr>
        <p:spPr>
          <a:xfrm>
            <a:off x="6720840" y="448056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7B1F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Tốt nhất — tối ưu từng bước</a:t>
            </a:r>
            <a:endParaRPr lang="en-US" sz="1100" dirty="0"/>
          </a:p>
        </p:txBody>
      </p:sp>
      <p:sp>
        <p:nvSpPr>
          <p:cNvPr id="68" name="Shape 43">
            <a:extLst>
              <a:ext uri="{FF2B5EF4-FFF2-40B4-BE49-F238E27FC236}">
                <a16:creationId xmlns:a16="http://schemas.microsoft.com/office/drawing/2014/main" id="{DD72C4B7-630B-94ED-FC07-F5B8C442A741}"/>
              </a:ext>
            </a:extLst>
          </p:cNvPr>
          <p:cNvSpPr/>
          <p:nvPr/>
        </p:nvSpPr>
        <p:spPr>
          <a:xfrm>
            <a:off x="365760" y="5212080"/>
            <a:ext cx="8412480" cy="274320"/>
          </a:xfrm>
          <a:prstGeom prst="rect">
            <a:avLst/>
          </a:prstGeom>
          <a:solidFill>
            <a:srgbClr val="E3F0FF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44">
            <a:extLst>
              <a:ext uri="{FF2B5EF4-FFF2-40B4-BE49-F238E27FC236}">
                <a16:creationId xmlns:a16="http://schemas.microsoft.com/office/drawing/2014/main" id="{A3C1E0EF-43F7-1A0D-D50C-4A2CC66A6A43}"/>
              </a:ext>
            </a:extLst>
          </p:cNvPr>
          <p:cNvSpPr/>
          <p:nvPr/>
        </p:nvSpPr>
        <p:spPr>
          <a:xfrm>
            <a:off x="502920" y="5212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Kết luận: Gradient Boosting đạt accuracy cao nhất (~0.82). Ensemble methods vượt trội so với Decision Tree đơn lẻ (+10 điểm).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46305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504A30-28F2-4D1D-65CA-437E91886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0BAF72-7559-A894-10E5-F3237FB3E3BE}"/>
              </a:ext>
            </a:extLst>
          </p:cNvPr>
          <p:cNvCxnSpPr/>
          <p:nvPr/>
        </p:nvCxnSpPr>
        <p:spPr>
          <a:xfrm>
            <a:off x="358775" y="8278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AF5DE99-278E-0683-1E12-CF5719DA3353}"/>
              </a:ext>
            </a:extLst>
          </p:cNvPr>
          <p:cNvSpPr txBox="1"/>
          <p:nvPr/>
        </p:nvSpPr>
        <p:spPr>
          <a:xfrm>
            <a:off x="196850" y="291465"/>
            <a:ext cx="8810625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vi-V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CHƯƠNG V: TÀI LIỆU THAM KHẢO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3EEF9D-1E7B-6DA5-DCA6-5DB640DA109F}"/>
              </a:ext>
            </a:extLst>
          </p:cNvPr>
          <p:cNvSpPr txBox="1"/>
          <p:nvPr/>
        </p:nvSpPr>
        <p:spPr>
          <a:xfrm>
            <a:off x="297672" y="1091682"/>
            <a:ext cx="842133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[1] L. </a:t>
            </a:r>
            <a:r>
              <a:rPr lang="en-US" dirty="0" err="1"/>
              <a:t>Breiman</a:t>
            </a:r>
            <a:r>
              <a:rPr lang="en-US" dirty="0"/>
              <a:t>, "Random Forests," </a:t>
            </a:r>
            <a:r>
              <a:rPr lang="en-US" i="1" dirty="0"/>
              <a:t>Machine Learning</a:t>
            </a:r>
            <a:r>
              <a:rPr lang="en-US" dirty="0"/>
              <a:t>, vol. 45, pp. 5-32, 2001.</a:t>
            </a:r>
          </a:p>
          <a:p>
            <a:r>
              <a:rPr lang="en-US" dirty="0"/>
              <a:t> [2] J. H. Friedman, "Greedy Function Approximation: A Gradient Boosting Machine," </a:t>
            </a:r>
            <a:r>
              <a:rPr lang="en-US" i="1" dirty="0"/>
              <a:t>The Annals of Statistics</a:t>
            </a:r>
            <a:r>
              <a:rPr lang="en-US" dirty="0"/>
              <a:t>, vol. 29, no. 5, pp. 1189-1232, 2001.</a:t>
            </a:r>
          </a:p>
          <a:p>
            <a:r>
              <a:rPr lang="en-US" dirty="0"/>
              <a:t> [3] K. P. Murphy, </a:t>
            </a:r>
            <a:r>
              <a:rPr lang="en-US" i="1" dirty="0"/>
              <a:t>Machine Learning: A Probabilistic Perspective</a:t>
            </a:r>
            <a:r>
              <a:rPr lang="en-US" dirty="0"/>
              <a:t>. Cambridge, MA, USA: MIT Press, 2012. </a:t>
            </a:r>
          </a:p>
          <a:p>
            <a:r>
              <a:rPr lang="en-US" dirty="0"/>
              <a:t>[4] C. M. Bishop, </a:t>
            </a:r>
            <a:r>
              <a:rPr lang="en-US" i="1" dirty="0"/>
              <a:t>Pattern Recognition and Machine Learning</a:t>
            </a:r>
            <a:r>
              <a:rPr lang="en-US" dirty="0"/>
              <a:t>. New York, NY, USA: Springer, 2006. </a:t>
            </a:r>
          </a:p>
          <a:p>
            <a:r>
              <a:rPr lang="en-US" dirty="0"/>
              <a:t>[5] A. C. Müller and S. Guido, </a:t>
            </a:r>
            <a:r>
              <a:rPr lang="en-US" i="1" dirty="0"/>
              <a:t>Introduction to Machine Learning with Python</a:t>
            </a:r>
            <a:r>
              <a:rPr lang="en-US" dirty="0"/>
              <a:t>. Sebastopol, CA, USA: O'Reilly Media, 2016.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5780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6175534"/>
            <a:ext cx="9144476" cy="682466"/>
          </a:xfrm>
          <a:prstGeom prst="rect">
            <a:avLst/>
          </a:prstGeom>
        </p:spPr>
      </p:pic>
      <p:cxnSp>
        <p:nvCxnSpPr>
          <p:cNvPr id="2" name="Straight Connector 1"/>
          <p:cNvCxnSpPr/>
          <p:nvPr/>
        </p:nvCxnSpPr>
        <p:spPr>
          <a:xfrm>
            <a:off x="358775" y="827871"/>
            <a:ext cx="80772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1294765" y="2184400"/>
            <a:ext cx="6553200" cy="2008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ctr" fontAlgn="auto">
              <a:lnSpc>
                <a:spcPct val="100000"/>
              </a:lnSpc>
            </a:pPr>
            <a:r>
              <a:rPr lang="en-US" sz="4800"/>
              <a:t>Cảm ơn thầy và các bạn đã lắng nghe!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51.3651181102362,&quot;left&quot;:34.6,&quot;top&quot;:108.85,&quot;width&quot;:649.965748031496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953</TotalTime>
  <Words>2522</Words>
  <Application>Microsoft Office PowerPoint</Application>
  <PresentationFormat>On-screen Show (4:3)</PresentationFormat>
  <Paragraphs>327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Cambria Math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Administrator</cp:lastModifiedBy>
  <cp:revision>56</cp:revision>
  <dcterms:created xsi:type="dcterms:W3CDTF">2025-07-23T00:59:00Z</dcterms:created>
  <dcterms:modified xsi:type="dcterms:W3CDTF">2026-05-04T09:34:01Z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1A09966B03DA472C918F34566D085ECC_11</vt:lpwstr>
  </property>
  <property fmtid="{D5CDD505-2E9C-101B-9397-08002B2CF9AE}" pid="3" name="KSOProductBuildVer">
    <vt:lpwstr>1033-12.2.0.23196</vt:lpwstr>
  </property>
</Properties>
</file>